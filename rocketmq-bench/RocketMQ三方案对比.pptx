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64线程 平均 TPS</c:v>
                </c:pt>
              </c:strCache>
            </c:strRef>
          </c:tx>
          <c:spPr>
            <a:solidFill>
              <a:srgbClr val="129E76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293B"/>
                    </a:solidFill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 DLedger</c:v>
                </c:pt>
                <c:pt idx="1">
                  <c:v>B 主从同AZ</c:v>
                </c:pt>
                <c:pt idx="2">
                  <c:v>C 主从跨AZ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33064</c:v>
                </c:pt>
                <c:pt idx="1">
                  <c:v>84408</c:v>
                </c:pt>
                <c:pt idx="2">
                  <c:v>66917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733-402C-ACCA-31C70D6899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FD8DF"/>
            </a:solidFill>
          </a:ln>
        </c:spPr>
        <c:txPr>
          <a:bodyPr/>
          <a:lstStyle/>
          <a:p>
            <a:pPr>
              <a:defRPr sz="1100">
                <a:solidFill>
                  <a:srgbClr val="5B6677"/>
                </a:solidFill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CF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677"/>
                </a:solidFill>
                <a:latin typeface="Microsoft YaHe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DLedger</c:v>
                </c:pt>
              </c:strCache>
            </c:strRef>
          </c:tx>
          <c:spPr>
            <a:ln w="28575"/>
          </c:spPr>
          <c:cat>
            <c:strRef>
              <c:f>Sheet1!$A$2:$A$5</c:f>
              <c:strCache>
                <c:ptCount val="4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9102</c:v>
                </c:pt>
                <c:pt idx="1">
                  <c:v>17992</c:v>
                </c:pt>
                <c:pt idx="2">
                  <c:v>32516</c:v>
                </c:pt>
                <c:pt idx="3">
                  <c:v>55675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9B-462D-A6A6-D85D5847A3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主从同AZ</c:v>
                </c:pt>
              </c:strCache>
            </c:strRef>
          </c:tx>
          <c:spPr>
            <a:ln w="28575"/>
          </c:spPr>
          <c:cat>
            <c:strRef>
              <c:f>Sheet1!$A$2:$A$5</c:f>
              <c:strCache>
                <c:ptCount val="4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27224</c:v>
                </c:pt>
                <c:pt idx="1">
                  <c:v>52300</c:v>
                </c:pt>
                <c:pt idx="2">
                  <c:v>80999</c:v>
                </c:pt>
                <c:pt idx="3">
                  <c:v>120736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9B-462D-A6A6-D85D5847A3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主从跨AZ</c:v>
                </c:pt>
              </c:strCache>
            </c:strRef>
          </c:tx>
          <c:spPr>
            <a:ln w="28575"/>
          </c:spPr>
          <c:cat>
            <c:strRef>
              <c:f>Sheet1!$A$2:$A$5</c:f>
              <c:strCache>
                <c:ptCount val="4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17075</c:v>
                </c:pt>
                <c:pt idx="1">
                  <c:v>34538</c:v>
                </c:pt>
                <c:pt idx="2">
                  <c:v>67335</c:v>
                </c:pt>
                <c:pt idx="3">
                  <c:v>114001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E9B-462D-A6A6-D85D5847A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FD8DF"/>
            </a:solidFill>
          </a:ln>
        </c:spPr>
        <c:txPr>
          <a:bodyPr/>
          <a:lstStyle/>
          <a:p>
            <a:pPr>
              <a:defRPr sz="1100">
                <a:solidFill>
                  <a:srgbClr val="5B6677"/>
                </a:solidFill>
                <a:latin typeface="Microsoft YaHei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5ECF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677"/>
                </a:solidFill>
                <a:latin typeface="Microsoft YaHei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latin typeface="Microsoft YaHei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 DLedger</c:v>
                </c:pt>
              </c:strCache>
            </c:strRef>
          </c:tx>
          <c:spPr>
            <a:solidFill>
              <a:srgbClr val="129E76"/>
            </a:solidFill>
          </c:spPr>
          <c:invertIfNegative val="1"/>
          <c:dLbls>
            <c:numFmt formatCode="0&quot;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E293B"/>
                    </a:solidFill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 冻结</c:v>
                </c:pt>
                <c:pt idx="1">
                  <c:v>C 优雅停止</c:v>
                </c:pt>
                <c:pt idx="2">
                  <c:v>D 硬断电 ★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28</c:v>
                </c:pt>
                <c:pt idx="2">
                  <c:v>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4DE-4DEF-8BA5-B075E389CF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主从同AZ</c:v>
                </c:pt>
              </c:strCache>
            </c:strRef>
          </c:tx>
          <c:spPr>
            <a:solidFill>
              <a:srgbClr val="E08A1A"/>
            </a:solidFill>
          </c:spPr>
          <c:invertIfNegative val="1"/>
          <c:dLbls>
            <c:numFmt formatCode="0&quot;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E293B"/>
                    </a:solidFill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 冻结</c:v>
                </c:pt>
                <c:pt idx="1">
                  <c:v>C 优雅停止</c:v>
                </c:pt>
                <c:pt idx="2">
                  <c:v>D 硬断电 ★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</c:v>
                </c:pt>
                <c:pt idx="1">
                  <c:v>10</c:v>
                </c:pt>
                <c:pt idx="2">
                  <c:v>132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4DE-4DEF-8BA5-B075E389CF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主从跨AZ</c:v>
                </c:pt>
              </c:strCache>
            </c:strRef>
          </c:tx>
          <c:spPr>
            <a:solidFill>
              <a:srgbClr val="2E6FB5"/>
            </a:solidFill>
          </c:spPr>
          <c:invertIfNegative val="1"/>
          <c:dLbls>
            <c:numFmt formatCode="0&quot;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E293B"/>
                    </a:solidFill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 冻结</c:v>
                </c:pt>
                <c:pt idx="1">
                  <c:v>C 优雅停止</c:v>
                </c:pt>
                <c:pt idx="2">
                  <c:v>D 硬断电 ★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54</c:v>
                </c:pt>
                <c:pt idx="1">
                  <c:v>30</c:v>
                </c:pt>
                <c:pt idx="2">
                  <c:v>130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4DE-4DEF-8BA5-B075E389CF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FD8DF"/>
            </a:solidFill>
          </a:ln>
        </c:spPr>
        <c:txPr>
          <a:bodyPr/>
          <a:lstStyle/>
          <a:p>
            <a:pPr>
              <a:defRPr sz="1100">
                <a:solidFill>
                  <a:srgbClr val="5B6677"/>
                </a:solidFill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CF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677"/>
                </a:solidFill>
                <a:latin typeface="Microsoft YaHe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latin typeface="Microsoft YaHei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149840" y="0"/>
            <a:ext cx="2041855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331720"/>
            <a:ext cx="8869680" cy="38100"/>
          </a:xfrm>
          <a:prstGeom prst="rect">
            <a:avLst/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9FC6DE"/>
                </a:solidFill>
                <a:latin typeface="Microsoft YaHei"/>
              </a:rPr>
              <a:t>RocketMQ 4.9.7  ·  高可用架构选型评估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三种部署方案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性能压测与故障演练 对比分析报告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FE6D8"/>
                </a:solidFill>
                <a:latin typeface="Microsoft YaHei"/>
              </a:rPr>
              <a:t>• 方案 A：DLedger / Raft  3 副本跨可用区（自动选主）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6D8A8"/>
                </a:solidFill>
                <a:latin typeface="Microsoft YaHei"/>
              </a:rPr>
              <a:t>• 方案 B：经典主从  Master-Slave  同可用区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ED8F2"/>
                </a:solidFill>
                <a:latin typeface="Microsoft YaHei"/>
              </a:rPr>
              <a:t>• 方案 C：经典主从  Master-Slave  跨可用区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A8C0"/>
                </a:solidFill>
                <a:latin typeface="Microsoft YaHei"/>
              </a:rPr>
              <a:t>Azure germanywestcentral  ·  实测数据  ·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执行摘要：一页看懂三方案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2423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11880" cy="566928"/>
          </a:xfrm>
          <a:prstGeom prst="rect">
            <a:avLst/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90472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方案 A  DLedger 跨AZ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756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677"/>
                </a:solidFill>
                <a:latin typeface="Microsoft YaHei"/>
              </a:rPr>
              <a:t>9 broker · 自动选主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246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故障转移最快：硬断电 RTO ≈ 33s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RPO=0 强一致（多数派提交）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吞吐较低 33K，节点最多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417320"/>
            <a:ext cx="3611880" cy="2423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9392" y="1417320"/>
            <a:ext cx="3611880" cy="566928"/>
          </a:xfrm>
          <a:prstGeom prst="rect">
            <a:avLst/>
          </a:prstGeom>
          <a:solidFill>
            <a:srgbClr val="E0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1490472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方案 B  主从 同AZ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0756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677"/>
                </a:solidFill>
                <a:latin typeface="Microsoft YaHei"/>
              </a:rPr>
              <a:t>6 broker · 无自动选主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404872"/>
            <a:ext cx="3246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吞吐最高：64线程 84K TPS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硬断电 RTO ≈ 132s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同AZ双断电 RPO 理论有风险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417320"/>
            <a:ext cx="3611880" cy="2423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5864" y="1417320"/>
            <a:ext cx="3611880" cy="566928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490472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方案 C  主从 跨AZ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0756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677"/>
                </a:solidFill>
                <a:latin typeface="Microsoft YaHei"/>
              </a:rPr>
              <a:t>6 broker · 无自动选主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246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吞吐居中：64线程 67K TPS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硬断电 RTO ≈ 110~130s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跨AZ隔离 → RPO=0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14800"/>
            <a:ext cx="11183112" cy="20116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8FE0C9"/>
                </a:solidFill>
                <a:latin typeface="Microsoft YaHei"/>
              </a:rPr>
              <a:t>核心结论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09160"/>
            <a:ext cx="106984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自动故障转移能力是三者的本质差异。</a:t>
            </a:r>
            <a:r>
              <a:rPr sz="1400" b="0" i="0">
                <a:solidFill>
                  <a:srgbClr val="D7E3F0"/>
                </a:solidFill>
                <a:latin typeface="Microsoft YaHei"/>
              </a:rPr>
              <a:t>DLedger 凭 Raft 多数派在 6~9s 内组内自愈、硬断电 RPO=0，可用性最强；两套主从无自动选主，依赖客户端重试+多组横跨兜底。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数据安全维度：</a:t>
            </a:r>
            <a:r>
              <a:rPr sz="1400" b="0" i="0">
                <a:solidFill>
                  <a:srgbClr val="D7E3F0"/>
                </a:solidFill>
                <a:latin typeface="Microsoft YaHei"/>
              </a:rPr>
              <a:t>DLedger 与「主从跨AZ」均实测 RPO=0；「主从同AZ」在主从同时硬断电+异步刷盘下存在理论丢失风险。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6D8A8"/>
                </a:solidFill>
                <a:latin typeface="Microsoft YaHei"/>
              </a:rPr>
              <a:t>选型建议：</a:t>
            </a:r>
            <a:r>
              <a:rPr sz="1400" b="0" i="0">
                <a:solidFill>
                  <a:srgbClr val="D7E3F0"/>
                </a:solidFill>
                <a:latin typeface="Microsoft YaHei"/>
              </a:rPr>
              <a:t>金融级核心选 A；兼顾性能与容灾选 C；吞吐优先且容忍较长 RTO 的非关键业务可选 B。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SCOPE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测试范围与方法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77"/>
                </a:solidFill>
                <a:latin typeface="Microsoft YaHei"/>
              </a:rPr>
              <a:t>统一压测与故障注入流程，确保三方案口径一致、可横向比较。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4008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21295C"/>
                </a:solidFill>
                <a:latin typeface="Microsoft YaHei"/>
              </a:rPr>
              <a:t>① 健康检查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74519"/>
            <a:ext cx="3703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93B"/>
                </a:solidFill>
                <a:latin typeface="Microsoft YaHei"/>
              </a:rPr>
              <a:t>压测前确认全部 broker / NameServer 在线、版本一致、topic 横跨三组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87751"/>
            <a:ext cx="64008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1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21295C"/>
                </a:solidFill>
                <a:latin typeface="Microsoft YaHei"/>
              </a:rPr>
              <a:t>② 性能压测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87751"/>
            <a:ext cx="3703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93B"/>
                </a:solidFill>
                <a:latin typeface="Microsoft YaHei"/>
              </a:rPr>
              <a:t>官方 benchmark Producer，1KB 消息，64线程×300s 主测 + 16/32/64/128 线程扫描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00983"/>
            <a:ext cx="64008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300983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21295C"/>
                </a:solidFill>
                <a:latin typeface="Microsoft YaHei"/>
              </a:rPr>
              <a:t>③ 故障注入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300983"/>
            <a:ext cx="3703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93B"/>
                </a:solidFill>
                <a:latin typeface="Microsoft YaHei"/>
              </a:rPr>
              <a:t>SIGSTOP 冻结 Master（模拟 JVM 卡死 / 长 GC，进程挂起但 TCP 不断）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14215"/>
            <a:ext cx="64008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014215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21295C"/>
                </a:solidFill>
                <a:latin typeface="Microsoft YaHei"/>
              </a:rPr>
              <a:t>④ 故障注入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014215"/>
            <a:ext cx="3703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93B"/>
                </a:solidFill>
                <a:latin typeface="Microsoft YaHei"/>
              </a:rPr>
              <a:t>systemctl 优雅停止（触发 TCP FIN，NameServer 快速摘除）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27447"/>
            <a:ext cx="64008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727447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21295C"/>
                </a:solidFill>
                <a:latin typeface="Microsoft YaHei"/>
              </a:rPr>
              <a:t>⑤ 故障注入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727447"/>
            <a:ext cx="3703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93B"/>
                </a:solidFill>
                <a:latin typeface="Microsoft YaHei"/>
              </a:rPr>
              <a:t>sysrq 硬断电（无刷盘、无 FIN，模拟真实掉电）—— 重点用例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40679"/>
            <a:ext cx="64008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440679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21295C"/>
                </a:solidFill>
                <a:latin typeface="Microsoft YaHei"/>
              </a:rPr>
              <a:t>⑥ RPO 校验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440679"/>
            <a:ext cx="3703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93B"/>
                </a:solidFill>
                <a:latin typeface="Microsoft YaHei"/>
              </a:rPr>
              <a:t>自研 Probe 全量去重 verify，统计 unique / dup 判定是否丢消息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874519"/>
            <a:ext cx="5193792" cy="20116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0" y="2057400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Microsoft YaHei"/>
              </a:rPr>
              <a:t>两大核心指标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487168"/>
            <a:ext cx="464515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21295C"/>
                </a:solidFill>
                <a:latin typeface="Microsoft YaHei"/>
              </a:rPr>
              <a:t>RTO（恢复时间）</a:t>
            </a:r>
            <a:r>
              <a:rPr sz="1200" b="0" i="0">
                <a:solidFill>
                  <a:srgbClr val="1E293B"/>
                </a:solidFill>
                <a:latin typeface="Microsoft YaHei"/>
              </a:rPr>
              <a:t>  从故障注入到客户端恢复正常发送的时间。受故障检测机制 + 客户端路由刷新周期共同影响。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21295C"/>
                </a:solidFill>
                <a:latin typeface="Microsoft YaHei"/>
              </a:rPr>
              <a:t>RPO（数据丢失）</a:t>
            </a:r>
            <a:r>
              <a:rPr sz="1200" b="0" i="0">
                <a:solidFill>
                  <a:srgbClr val="1E293B"/>
                </a:solidFill>
                <a:latin typeface="Microsoft YaHei"/>
              </a:rPr>
              <a:t>  已成功 ack 的消息是否丢失。由 verify 去重 dup 计数实测，0 表示零丢失。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069080"/>
            <a:ext cx="5193792" cy="2057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4224528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FE0C9"/>
                </a:solidFill>
                <a:latin typeface="Microsoft YaHei"/>
              </a:rPr>
              <a:t>故障检测的三种路径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617720"/>
            <a:ext cx="464515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Microsoft YaHei"/>
              </a:rPr>
              <a:t>• 优雅停止 → TCP FIN，NameServer ~1s 摘除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Microsoft YaHei"/>
              </a:rPr>
              <a:t>• 硬断电 → 无 FIN，靠心跳空闲超时 ~110s 才摘除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FE6D8"/>
                </a:solidFill>
                <a:latin typeface="Microsoft YaHei"/>
              </a:rPr>
              <a:t>• DLedger → 不依赖 NameServer，组内 Raft 心跳超时直接重选主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三方案架构对比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83112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8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对比维度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A · DLedger 跨AZ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B · 主从 同AZ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C · 主从 跨AZ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集群类型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DLedger / Raft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经典主从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经典主从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拓扑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3 组 × 3 副本 = 9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3 组 ×（1主1从）= 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3 组 ×（1主1从）= 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复制 / 提交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Raft 多数派 2/3 提交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SYNC_MASTER + ASYNC_FLUSH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SYNC_MASTER + ASYNC_FLUSH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自动选主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✓ 组内自动重选举(term+1)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✗ 无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✗ 无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副本可用区分布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每组 3 副本跨 3 AZ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每组主从同 1 AZ（组间跨3AZ）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每组主从跨 2 AZ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主故障后恢复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组内剩余 2 副本自动选新主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靠 topic 横跨多组 + 客户端重试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靠 topic 横跨多组 + 客户端重试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NameServer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3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3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3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23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D9534F"/>
                </a:solidFill>
                <a:latin typeface="Microsoft YaHei"/>
              </a:rPr>
              <a:t>关键差异：</a:t>
            </a:r>
            <a:r>
              <a:rPr sz="1300" b="0" i="0">
                <a:solidFill>
                  <a:srgbClr val="1E293B"/>
                </a:solidFill>
                <a:latin typeface="Microsoft YaHei"/>
              </a:rPr>
              <a:t>只有 DLedger 具备组内自动选主——单台 Master 故障由本组另外 2 个副本在数秒内自愈，无需人工、无需依赖其它 broker 组；两套主从均需外部兜底。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Microsoft YaHei"/>
              </a:rPr>
              <a:t>TEST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测试环境（三套硬件配置完全一致）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831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8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环境项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A · DLedger 跨AZ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B · 主从 同AZ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C · 主从 跨AZ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RocketMQ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4.9.7 DLedger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4.9.7 主从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4.9.7 主从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Broker 机型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Standard_D4s_v6 (4 vCPU/16GB)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Standard_D4s_v6 (4 vCPU/16GB)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Standard_D4s_v6 (4 vCPU/16GB)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Broker JVM 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-Xms8g -Xmx8g -Xmn4g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-Xms8g -Xmx8g -Xmn4g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-Xms8g -Xmx8g -Xmn4g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客户端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Standard_D4s_v6 / JDK11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Standard_D4s_v6 / JDK11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Standard_D4s_v6 / JDK11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存储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/datadisk SSD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/datadisk SSD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/datadisk SSD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OS / JDK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Rocky 9 / JDK11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Rocky 9 / JDK11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Rocky 9 / JDK11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983480"/>
            <a:ext cx="11183112" cy="1234440"/>
          </a:xfrm>
          <a:prstGeom prst="roundRect">
            <a:avLst>
              <a:gd name="adj" fmla="val 8000"/>
            </a:avLst>
          </a:prstGeom>
          <a:solidFill>
            <a:srgbClr val="EAF4EF"/>
          </a:solidFill>
          <a:ln w="12700">
            <a:solidFill>
              <a:srgbClr val="BE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27A55"/>
                </a:solidFill>
                <a:latin typeface="Microsoft YaHei"/>
              </a:rPr>
              <a:t>✓ 三套环境硬件配置完全一致，性能可公平横向比较。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三方案的 Broker 机型（均 D4s_v6 4vCPU/16GB）、JVM 堆（均 -Xmx8g）与压测客户端完全相同。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因此 TPS 差异纯粹来自架构本身：DLedger 付出 Raft 三副本多数派 + 跨3AZ 复制开销；主从跨AZ 付出跨AZ 同步时延；主从同AZ 单从同区同步最快。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性能对比：吞吐与时延（同硬件，差异源于架构）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5448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92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B6677"/>
                </a:solidFill>
                <a:latin typeface="Microsoft YaHei"/>
              </a:rPr>
              <a:t>64 线程 × 300s 平均吞吐（msg/s）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55080" y="1554480"/>
          <a:ext cx="5330952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4892040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B6677"/>
                </a:solidFill>
                <a:latin typeface="Microsoft YaHei"/>
              </a:rPr>
              <a:t>线程扫描吞吐趋势（msg/s，横轴=并发线程）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03520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41324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065A82"/>
                </a:solidFill>
                <a:latin typeface="Microsoft YaHei"/>
              </a:rPr>
              <a:t>读法：</a:t>
            </a:r>
            <a:r>
              <a:rPr sz="1250" b="0" i="0">
                <a:solidFill>
                  <a:srgbClr val="1E293B"/>
                </a:solidFill>
                <a:latin typeface="Microsoft YaHei"/>
              </a:rPr>
              <a:t>三者均随线程数近线性增长、零发送失败、平均时延均在亚毫秒~2ms 量级。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5B6677"/>
                </a:solidFill>
                <a:latin typeface="Microsoft YaHei"/>
              </a:rPr>
              <a:t>三套硬件一致，吞吐差异纯由架构决定：DLedger 吞吐较低是 Raft 三副本多数派 + 跨3AZ 复制开销所致（非架构缺陷）；同AZ 主从因单从同区同步时延最低而吞吐最高。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FAULT B · FREEZE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故障演练 B：SIGSTOP 冻结 Master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77"/>
                </a:solidFill>
                <a:latin typeface="Microsoft YaHei"/>
              </a:rPr>
              <a:t>模拟 JVM 卡死 / 长 GC：进程挂起但 TCP 不断。冻结时长 &lt; NameServer 超时 → 路由不摘除，靠客户端重试或冻结结束自愈。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831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A · DLedger 跨AZ</a:t>
                      </a:r>
                    </a:p>
                  </a:txBody>
                  <a:tcPr marL="54864" marR="54864" marT="18288" marB="18288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B · 主从 同AZ</a:t>
                      </a:r>
                    </a:p>
                  </a:txBody>
                  <a:tcPr marL="54864" marR="54864" marT="18288" marB="18288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C · 主从 跨AZ</a:t>
                      </a:r>
                    </a:p>
                  </a:txBody>
                  <a:tcPr marL="54864" marR="54864" marT="18288" marB="18288" anchor="ctr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注入目标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Master a-1（先定位 Leader）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broker-a 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broker-a 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恢复机制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组内自动选主 ≈8s(term2→3)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冻结结束/客户端重试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冻结结束/客户端重试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客户端 RTO（无重试）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≈36s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≈47s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≈54s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失败数（无重试）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456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128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152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失败数（开重试）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0（完全屏蔽）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107*（限流瞬时错）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RPO（去重校验）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1208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065A82"/>
                </a:solidFill>
                <a:latin typeface="Microsoft YaHei"/>
              </a:rPr>
              <a:t>要点：</a:t>
            </a:r>
            <a:r>
              <a:rPr sz="1250" b="0" i="0">
                <a:solidFill>
                  <a:srgbClr val="1E293B"/>
                </a:solidFill>
                <a:latin typeface="Microsoft YaHei"/>
              </a:rPr>
              <a:t>开重试后三方案用户基本无感；RPO 均为 0（未 ack 的失败可由应用重发，无已确认消息丢失）。DLedger 即使不靠重试也能组内自动选主恢复。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5B6677"/>
                </a:solidFill>
                <a:latin typeface="Microsoft YaHei"/>
              </a:rPr>
              <a:t>* 跨AZ 的 107 为重试改投瞬间 broker 限流类瞬时错（RemotingTooMuchRequest，可重试），非数据丢失、也不代表跨AZ 可用性更差；与同AZ 为独立两次压测，峰值不同。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FAULT C · GRACEFUL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故障演练 C：systemctl 优雅停止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77"/>
                </a:solidFill>
                <a:latin typeface="Microsoft YaHei"/>
              </a:rPr>
              <a:t>触发 TCP FIN，NameServer ~1s 快速摘除路由。客户端可见 RTO 主要由本地路由缓存刷新周期(~30s)决定。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831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A · DLedger 跨AZ</a:t>
                      </a:r>
                    </a:p>
                  </a:txBody>
                  <a:tcPr marL="54864" marR="54864" marT="18288" marB="18288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B · 主从 同AZ</a:t>
                      </a:r>
                    </a:p>
                  </a:txBody>
                  <a:tcPr marL="54864" marR="54864" marT="18288" marB="18288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C · 主从 跨AZ</a:t>
                      </a:r>
                    </a:p>
                  </a:txBody>
                  <a:tcPr marL="54864" marR="54864" marT="18288" marB="18288" anchor="ctr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注入目标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Master a-1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broker-a 主+从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broker-a 主 + broker-c 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NameServer 摘除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—（组内选主）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FIN ~1s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FIN ~1s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恢复机制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a-0 自动选主 ≈6s(term4→5)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路由摘除 + 切 b/c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路由摘除 + 切 b/c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客户端 RTO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≈28s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≈10s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≈30s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失败数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9,351 (6.25%)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1,197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3,946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Microsoft YaHei"/>
                        </a:rPr>
                        <a:t>RPO（去重校验）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1208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065A82"/>
                </a:solidFill>
                <a:latin typeface="Microsoft YaHei"/>
              </a:rPr>
              <a:t>要点：</a:t>
            </a:r>
            <a:r>
              <a:rPr sz="1250" b="0" i="0">
                <a:solidFill>
                  <a:srgbClr val="1E293B"/>
                </a:solidFill>
                <a:latin typeface="Microsoft YaHei"/>
              </a:rPr>
              <a:t>优雅停场景下三方案 RTO 同处 10~30s 量级且 RPO=0，主要由客户端路由缓存刷新周期(~30s)主导，不反映架构优劣。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5B6677"/>
                </a:solidFill>
                <a:latin typeface="Microsoft YaHei"/>
              </a:rPr>
              <a:t>DLedger 的 28s ≈ 客户端路由刷新，非选主耗时——Raft 选主本身仅 ≈6s、组内早已恢复可写（仅停 Leader 单台，组仍在，客户端需等缓存刷新规避旧 Leader 队列）。真正分水岭见第 9 页硬断电。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534F"/>
                </a:solidFill>
                <a:latin typeface="Microsoft YaHei"/>
              </a:rPr>
              <a:t>FAULT D · POWER OFF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故障演练 D：sysrq 硬断电（重点用例）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77"/>
                </a:solidFill>
                <a:latin typeface="Microsoft YaHei"/>
              </a:rPr>
              <a:t>无刷盘、无 TCP FIN，模拟真实掉电——最能区分三方案高可用与数据安全能力的场景。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A · DLedger 跨AZ</a:t>
                      </a:r>
                    </a:p>
                  </a:txBody>
                  <a:tcPr marL="54864" marR="54864" marT="18288" marB="18288" anchor="ctr"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B · 主从 同AZ</a:t>
                      </a:r>
                    </a:p>
                  </a:txBody>
                  <a:tcPr marL="54864" marR="54864" marT="18288" marB="18288" anchor="ctr"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C · 主从 跨AZ</a:t>
                      </a:r>
                    </a:p>
                  </a:txBody>
                  <a:tcPr marL="54864" marR="54864" marT="18288" marB="18288" anchor="ctr">
                    <a:solidFill>
                      <a:srgbClr val="D95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Microsoft YaHei"/>
                        </a:rPr>
                        <a:t>注入目标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Master a-1（硬断电）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broker-a 主+从（同AZ）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z1 的 broker-a主 + broker-c从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Microsoft YaHei"/>
                        </a:rPr>
                        <a:t>检测/恢复机制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组内 Raft 重选主 ≈9s(term6→7)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NS 空闲超时 ~108s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NS 空闲超时 ~111s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Microsoft YaHei"/>
                        </a:rPr>
                        <a:t>客户端 RTO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≈33s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≈132s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≈110~130s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Microsoft YaHei"/>
                        </a:rPr>
                        <a:t>失败数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439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716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12,502*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Microsoft YaHei"/>
                        </a:rPr>
                        <a:t>RPO（去重校验）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0（unique=455,635）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理论 &gt;0（未实测确认）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0（unique=200,771；dup=0）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Microsoft YaHei"/>
                        </a:rPr>
                        <a:t>选主后是否可写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✓ 组内立即恢复可写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✗ 该组失去可写主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Microsoft YaHei"/>
                        </a:rPr>
                        <a:t>✗ 该组失去可写主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1208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 w="12700">
            <a:solidFill>
              <a:srgbClr val="E9C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32180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D9534F"/>
                </a:solidFill>
                <a:latin typeface="Microsoft YaHei"/>
              </a:rPr>
              <a:t>⚠ 主从同AZ 的 RPO 风险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Microsoft YaHei"/>
              </a:rPr>
              <a:t>主从同时掉电 + ASYNC_FLUSH 未刷盘 → 已 ack 消息理论可能丢失；本测因从机延后断电+store 损坏未能验证，建议改 SYNC_FLUSH 或跨AZ。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521208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ECF6F1"/>
          </a:solidFill>
          <a:ln w="12700">
            <a:solidFill>
              <a:srgbClr val="BD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532180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B9E77"/>
                </a:solidFill>
                <a:latin typeface="Microsoft YaHei"/>
              </a:rPr>
              <a:t>✓ DLedger / 跨AZ 的零丢失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Microsoft YaHei"/>
              </a:rPr>
              <a:t>RPO=0：消费端全量去重核对，unique=唯一消息数、dup=0 表示无重复或错乱。已 ack 消息均有跨AZ/多数派副本存活，硬断电也零物理丢失。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RTO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RTO 横向对比：故障恢复时间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235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B6677"/>
                </a:solidFill>
                <a:latin typeface="Microsoft YaHei"/>
              </a:rPr>
              <a:t>客户端可见 RTO（秒，越低越好）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54480"/>
            <a:ext cx="4005072" cy="402336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36992" y="173736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8FE0C9"/>
                </a:solidFill>
                <a:latin typeface="Microsoft YaHei"/>
              </a:rPr>
              <a:t>解读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240280"/>
            <a:ext cx="35204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硬断电是分水岭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D7E3F0"/>
                </a:solidFill>
                <a:latin typeface="Microsoft YaHei"/>
              </a:rPr>
              <a:t>DLedger 33s vs 主从 ~130s，快约 4 倍。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endParaRPr sz="1200" b="0" i="0">
              <a:solidFill>
                <a:srgbClr val="D7E3F0"/>
              </a:solidFill>
              <a:latin typeface="Microsoft YaHei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优雅停止：差异≠架构优劣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D7E3F0"/>
                </a:solidFill>
                <a:latin typeface="Microsoft YaHei"/>
              </a:rPr>
              <a:t>三者同处 10~30s，由客户端路由缓存刷新(~30s)主导。DLedger 28s≈路由刷新，非选主——Raft 选主仅~6s、组内早已可写。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endParaRPr sz="1200" b="0" i="0">
              <a:solidFill>
                <a:srgbClr val="D7E3F0"/>
              </a:solidFill>
              <a:latin typeface="Microsoft YaHei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冻结三者相近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D7E3F0"/>
                </a:solidFill>
                <a:latin typeface="Microsoft YaHei"/>
              </a:rPr>
              <a:t>均受“无 FIN/重试超时”影响，36~54s；开重试可大幅压降。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RPO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RPO 横向对比：数据安全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611880" cy="3520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611880" cy="566928"/>
          </a:xfrm>
          <a:prstGeom prst="rect">
            <a:avLst/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320954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A · DLedger 跨AZ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67712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9E77"/>
                </a:solidFill>
                <a:latin typeface="Microsoft YaHei"/>
              </a:rPr>
              <a:t>RPO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52928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>
                <a:solidFill>
                  <a:srgbClr val="129E76"/>
                </a:solidFill>
                <a:latin typeface="Microsoft YaHei"/>
              </a:rPr>
              <a:t>强保证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246120"/>
            <a:ext cx="317296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三种故障全部实测 dup=0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硬断电(无刷盘) 仍零丢失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多数派 2/3 提交 = 已ack必持久化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554480"/>
            <a:ext cx="3611880" cy="3520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88536" y="1554480"/>
            <a:ext cx="3611880" cy="566928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9704" y="1627632"/>
            <a:ext cx="320954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C · 主从 跨AZ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267712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9E77"/>
                </a:solidFill>
                <a:latin typeface="Microsoft YaHei"/>
              </a:rPr>
              <a:t>RPO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852928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>
                <a:solidFill>
                  <a:srgbClr val="2E6FB5"/>
                </a:solidFill>
                <a:latin typeface="Microsoft YaHei"/>
              </a:rPr>
              <a:t>AZ 隔离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246120"/>
            <a:ext cx="317296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verify unique=200,771 dup=0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主从分处不同 AZ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单 AZ 掉电不同时杀死同组主从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554480"/>
            <a:ext cx="3611880" cy="352044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 w="12700">
            <a:solidFill>
              <a:srgbClr val="E9C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554480"/>
            <a:ext cx="3611880" cy="566928"/>
          </a:xfrm>
          <a:prstGeom prst="rect">
            <a:avLst/>
          </a:prstGeom>
          <a:solidFill>
            <a:srgbClr val="E0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1627632"/>
            <a:ext cx="320954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B · 主从 同AZ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67712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D9534F"/>
                </a:solidFill>
                <a:latin typeface="Microsoft YaHei"/>
              </a:rPr>
              <a:t>RPO 理论 &gt;0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52928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>
                <a:solidFill>
                  <a:srgbClr val="D9534F"/>
                </a:solidFill>
                <a:latin typeface="Microsoft YaHei"/>
              </a:rPr>
              <a:t>存在风险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246120"/>
            <a:ext cx="317296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主从同 AZ，同时掉电风险高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ASYNC_FLUSH 未刷盘窗口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建议 SYNC_FLUSH 或改跨AZ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46811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FE0C9"/>
                </a:solidFill>
                <a:latin typeface="Microsoft YaHei"/>
              </a:rPr>
              <a:t>结论：</a:t>
            </a:r>
            <a:r>
              <a:rPr sz="1300" b="0" i="0">
                <a:solidFill>
                  <a:srgbClr val="FFFFFF"/>
                </a:solidFill>
                <a:latin typeface="Microsoft YaHei"/>
              </a:rPr>
              <a:t>数据零丢失靠“多副本 + 跨故障域”。DLedger 用 Raft 多数派在协议层保证 RPO=0；主从须靠跨 AZ 部署规避同域同时失效，否则异步刷盘存在丢失窗口。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综合能力评估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83112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0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能力维度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A · DLedger 跨AZ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B · 主从 同AZ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C · 主从 跨AZ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Microsoft YaHei"/>
                        </a:rPr>
                        <a:t>吞吐性能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9E76"/>
                          </a:solidFill>
                          <a:latin typeface="Microsoft YaHei"/>
                        </a:rPr>
                        <a:t>★★★☆☆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08A1A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6FB5"/>
                          </a:solidFill>
                          <a:latin typeface="Microsoft YaHei"/>
                        </a:rPr>
                        <a:t>★★★★☆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Microsoft YaHei"/>
                        </a:rPr>
                        <a:t>自动故障转移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9E76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08A1A"/>
                          </a:solidFill>
                          <a:latin typeface="Microsoft YaHei"/>
                        </a:rPr>
                        <a:t>★☆☆☆☆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6FB5"/>
                          </a:solidFill>
                          <a:latin typeface="Microsoft YaHei"/>
                        </a:rPr>
                        <a:t>★☆☆☆☆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Microsoft YaHei"/>
                        </a:rPr>
                        <a:t>故障恢复速度(硬断电)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9E76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08A1A"/>
                          </a:solidFill>
                          <a:latin typeface="Microsoft YaHei"/>
                        </a:rPr>
                        <a:t>★★☆☆☆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6FB5"/>
                          </a:solidFill>
                          <a:latin typeface="Microsoft YaHei"/>
                        </a:rPr>
                        <a:t>★★☆☆☆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Microsoft YaHei"/>
                        </a:rPr>
                        <a:t>数据安全 RPO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9E76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08A1A"/>
                          </a:solidFill>
                          <a:latin typeface="Microsoft YaHei"/>
                        </a:rPr>
                        <a:t>★★★☆☆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6FB5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Microsoft YaHei"/>
                        </a:rPr>
                        <a:t>AZ 级容灾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9E76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08A1A"/>
                          </a:solidFill>
                          <a:latin typeface="Microsoft YaHei"/>
                        </a:rPr>
                        <a:t>★★★☆☆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6FB5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Microsoft YaHei"/>
                        </a:rPr>
                        <a:t>资源 / 成本（节点少更优）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9E76"/>
                          </a:solidFill>
                          <a:latin typeface="Microsoft YaHei"/>
                        </a:rPr>
                        <a:t>★★★☆☆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08A1A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6FB5"/>
                          </a:solidFill>
                          <a:latin typeface="Microsoft YaHei"/>
                        </a:rPr>
                        <a:t>★★★★☆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Microsoft YaHei"/>
                        </a:rPr>
                        <a:t>运维复杂度（简单更优）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9E76"/>
                          </a:solidFill>
                          <a:latin typeface="Microsoft YaHei"/>
                        </a:rPr>
                        <a:t>★★★☆☆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08A1A"/>
                          </a:solidFill>
                          <a:latin typeface="Microsoft YaHei"/>
                        </a:rPr>
                        <a:t>★★★★☆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6FB5"/>
                          </a:solidFill>
                          <a:latin typeface="Microsoft YaHei"/>
                        </a:rPr>
                        <a:t>★★★★☆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60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5B6677"/>
                </a:solidFill>
                <a:latin typeface="Microsoft YaHei"/>
              </a:rPr>
              <a:t>注：</a:t>
            </a:r>
            <a:r>
              <a:rPr sz="1200" b="0" i="0">
                <a:solidFill>
                  <a:srgbClr val="5B6677"/>
                </a:solidFill>
                <a:latin typeface="Microsoft YaHei"/>
              </a:rPr>
              <a:t>三套环境硬件一致，性能星级反映架构真实差异；可用性与数据安全维度为架构本质能力。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29E76"/>
                </a:solidFill>
                <a:latin typeface="Microsoft YaHe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场景化选型推荐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183112" cy="15727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28016" cy="1572768"/>
          </a:xfrm>
          <a:prstGeom prst="rect">
            <a:avLst/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934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29E76"/>
                </a:solidFill>
                <a:latin typeface="Microsoft YaHei"/>
              </a:rPr>
              <a:t>首选 A · DLedger 跨AZ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1">
                <a:solidFill>
                  <a:srgbClr val="21295C"/>
                </a:solidFill>
                <a:latin typeface="Microsoft YaHei"/>
              </a:rPr>
              <a:t>金融级 / 强一致核心业务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09344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要求自动故障转移、无人工介入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硬断电 RTO 最短(~33s)、RPO=0 协议级保证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609344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可接受较低单机吞吐与更多节点(9台)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典型：交易、计费、订单等不可丢消息场景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45536"/>
            <a:ext cx="11183112" cy="15727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145536"/>
            <a:ext cx="128016" cy="1572768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E6FB5"/>
                </a:solidFill>
                <a:latin typeface="Microsoft YaHei"/>
              </a:rPr>
              <a:t>次选 C · 主从 跨AZ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03904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1">
                <a:solidFill>
                  <a:srgbClr val="21295C"/>
                </a:solidFill>
                <a:latin typeface="Microsoft YaHei"/>
              </a:rPr>
              <a:t>兼顾性能与 AZ 级容灾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29184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吞吐较高(64线程 67K)、单 AZ 掉电 RPO=0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无自动选主，依赖客户端重试 + 多组横跨兜底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291840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硬断电 RTO ~110~130s，需可容忍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典型：高吞吐且要求跨 AZ 容灾的一般业务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28032"/>
            <a:ext cx="11183112" cy="15727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828032"/>
            <a:ext cx="128016" cy="1572768"/>
          </a:xfrm>
          <a:prstGeom prst="rect">
            <a:avLst/>
          </a:prstGeom>
          <a:solidFill>
            <a:srgbClr val="E0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97433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08A1A"/>
                </a:solidFill>
                <a:latin typeface="Microsoft YaHei"/>
              </a:rPr>
              <a:t>备选 B · 主从 同AZ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1">
                <a:solidFill>
                  <a:srgbClr val="21295C"/>
                </a:solidFill>
                <a:latin typeface="Microsoft YaHei"/>
              </a:rPr>
              <a:t>吞吐优先 / 成本敏感的非关键业务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974336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吞吐最高(64线程 84K)、部署最省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同 AZ 双断电存在理论丢失风险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974336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硬断电 RTO ~132s、无自动选主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</a:rPr>
              <a:t>• 典型：日志、监控、可重放的非核心链路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OPERATIONS &amp;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运维与成本考量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40680" cy="46177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4068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17904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通用运维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48840"/>
            <a:ext cx="4928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● </a:t>
            </a:r>
            <a:r>
              <a:rPr sz="1350" b="1" i="0">
                <a:solidFill>
                  <a:srgbClr val="21295C"/>
                </a:solidFill>
                <a:latin typeface="Microsoft YaHei"/>
              </a:rPr>
              <a:t>节点与成本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59736"/>
            <a:ext cx="47274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93B"/>
                </a:solidFill>
                <a:latin typeface="Microsoft YaHei"/>
              </a:rPr>
              <a:t>DLedger 需 9 台 broker（3组×3副本），主从仅 6 台。DLedger 多一份副本带来更高资源成本，换取协议级自愈与零丢失。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447288"/>
            <a:ext cx="4928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● </a:t>
            </a:r>
            <a:r>
              <a:rPr sz="1350" b="1" i="0">
                <a:solidFill>
                  <a:srgbClr val="21295C"/>
                </a:solidFill>
                <a:latin typeface="Microsoft YaHei"/>
              </a:rPr>
              <a:t>客户端配置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58184"/>
            <a:ext cx="47274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93B"/>
                </a:solidFill>
                <a:latin typeface="Microsoft YaHei"/>
              </a:rPr>
              <a:t>无论哪种方案，均建议开启发送重试 retryTimesWhenSendFailed≥2、retryAnotherBrokerWhenNotStoreOK=true，可屏蔽冻结/短暂切换窗口的失败。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745736"/>
            <a:ext cx="4928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Microsoft YaHei"/>
              </a:rPr>
              <a:t>● </a:t>
            </a:r>
            <a:r>
              <a:rPr sz="1350" b="1" i="0">
                <a:solidFill>
                  <a:srgbClr val="21295C"/>
                </a:solidFill>
                <a:latin typeface="Microsoft YaHei"/>
              </a:rPr>
              <a:t>topic 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56632"/>
            <a:ext cx="47274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93B"/>
                </a:solidFill>
                <a:latin typeface="Microsoft YaHei"/>
              </a:rPr>
              <a:t>业务 topic 必须横跨全部 broker 组(本测 8r8w 跨 a/b/c)，故障期由健康组分担流量。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463040"/>
            <a:ext cx="5440680" cy="46177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D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5352" y="1463040"/>
            <a:ext cx="5440680" cy="502920"/>
          </a:xfrm>
          <a:prstGeom prst="rect">
            <a:avLst/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1517904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针对性优化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148840"/>
            <a:ext cx="4928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29E76"/>
                </a:solidFill>
                <a:latin typeface="Microsoft YaHei"/>
              </a:rPr>
              <a:t>● </a:t>
            </a:r>
            <a:r>
              <a:rPr sz="1350" b="1" i="0">
                <a:solidFill>
                  <a:srgbClr val="21295C"/>
                </a:solidFill>
                <a:latin typeface="Microsoft YaHei"/>
              </a:rPr>
              <a:t>加速故障检测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459736"/>
            <a:ext cx="47274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93B"/>
                </a:solidFill>
                <a:latin typeface="Microsoft YaHei"/>
              </a:rPr>
              <a:t>主从硬断电 RTO 受 NameServer 空闲超时(~110s)主导。可调小 broker 心跳间隔 / NameServer 扫描间隔，或接入外部健康探测主动 wipeWritePerm。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447288"/>
            <a:ext cx="4928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29E76"/>
                </a:solidFill>
                <a:latin typeface="Microsoft YaHei"/>
              </a:rPr>
              <a:t>● </a:t>
            </a:r>
            <a:r>
              <a:rPr sz="1350" b="1" i="0">
                <a:solidFill>
                  <a:srgbClr val="21295C"/>
                </a:solidFill>
                <a:latin typeface="Microsoft YaHei"/>
              </a:rPr>
              <a:t>刷盘与一致性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758184"/>
            <a:ext cx="47274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93B"/>
                </a:solidFill>
                <a:latin typeface="Microsoft YaHei"/>
              </a:rPr>
              <a:t>主从同 AZ 若要硬断电零丢失，需 SYNC_FLUSH（牺牲吞吐）或改为跨 AZ 部署；DLedger 默认即满足。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745736"/>
            <a:ext cx="4928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29E76"/>
                </a:solidFill>
                <a:latin typeface="Microsoft YaHei"/>
              </a:rPr>
              <a:t>● </a:t>
            </a:r>
            <a:r>
              <a:rPr sz="1350" b="1" i="0">
                <a:solidFill>
                  <a:srgbClr val="21295C"/>
                </a:solidFill>
                <a:latin typeface="Microsoft YaHei"/>
              </a:rPr>
              <a:t>大 store 隐患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5056632"/>
            <a:ext cx="47274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93B"/>
                </a:solidFill>
                <a:latin typeface="Microsoft YaHei"/>
              </a:rPr>
              <a:t>大 commitlog(&gt;100GB)叠加反复强杀，重启可能陷入 exit 253 崩溃循环，需清 store 恢复；避免对高写入节点频繁 kill/-9/sysrq。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FE0C9"/>
                </a:solidFill>
                <a:latin typeface="Microsoft YaHe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YaHei"/>
              </a:rPr>
              <a:t>结论与下一步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47672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</a:rPr>
              <a:t>自动故障转移是核心分水岭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7D6E6"/>
                </a:solidFill>
                <a:latin typeface="Microsoft YaHei"/>
              </a:rPr>
              <a:t>DLedger 组内 Raft 6~9s 自愈、硬断电 RTO≈33s；主从无自动选主，硬断电 RTO≈110~132s。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62072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</a:rPr>
              <a:t>数据安全取决于多副本+跨故障域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4612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7D6E6"/>
                </a:solidFill>
                <a:latin typeface="Microsoft YaHei"/>
              </a:rPr>
              <a:t>DLedger 与主从跨AZ 实测 RPO=0；主从同AZ 异步刷盘下存在理论丢失风险。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947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76472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</a:rPr>
              <a:t>性能差异纯由架构决定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052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7D6E6"/>
                </a:solidFill>
                <a:latin typeface="Microsoft YaHei"/>
              </a:rPr>
              <a:t>三套硬件完全一致，TPS 高低反映架构复制开销；高可用与数据安全才是选型决定因素。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FE0C9"/>
                </a:solidFill>
                <a:latin typeface="Microsoft YaHei"/>
              </a:rPr>
              <a:t>下一步建议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13248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FFFFF"/>
                </a:solidFill>
                <a:latin typeface="Microsoft YaHei"/>
              </a:rPr>
              <a:t>① 核心业务推进 DLedger 跨AZ 落地；② 现有主从尽快改为跨AZ 或对关键 topic 启用 SYNC_FLUSH；③ 统一客户端重试与 topic 横跨规范；④ 根据吞吐/容灾需求在三种架构间做差异化选型。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12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29E76"/>
                </a:solidFill>
                <a:latin typeface="Microsoft YaHe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附录 A · DLedger 跨AZ 完整数据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29E76"/>
                </a:solidFill>
                <a:latin typeface="Microsoft YaHei"/>
              </a:rPr>
              <a:t>环境与性能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45920"/>
          <a:ext cx="5532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环境项</a:t>
                      </a:r>
                    </a:p>
                  </a:txBody>
                  <a:tcPr marL="54864" marR="54864" marT="18288" marB="18288" anchor="ctr">
                    <a:solidFill>
                      <a:srgbClr val="129E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值</a:t>
                      </a:r>
                    </a:p>
                  </a:txBody>
                  <a:tcPr marL="54864" marR="54864" marT="18288" marB="18288" anchor="ctr">
                    <a:solidFill>
                      <a:srgbClr val="129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拓扑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3组×3副本=9，跨3AZ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复制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Raft 多数派 2/3 提交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机型/堆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D4s_v6 4vCPU / -Xmx8g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健康检查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9/9，Leader=a-1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611880"/>
          <a:ext cx="5532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线程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平均TPS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最大TPS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RT(ms)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失败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9,102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1.758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17,992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1.778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33,064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33,543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1.935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128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55,675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56,666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2.299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325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29E76"/>
                </a:solidFill>
                <a:latin typeface="Microsoft YaHei"/>
              </a:rPr>
              <a:t>故障演练 B / C / 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645920"/>
          <a:ext cx="54223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故障</a:t>
                      </a:r>
                    </a:p>
                  </a:txBody>
                  <a:tcPr marL="54864" marR="54864" marT="18288" marB="18288" anchor="ctr">
                    <a:solidFill>
                      <a:srgbClr val="129E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选举/恢复</a:t>
                      </a:r>
                    </a:p>
                  </a:txBody>
                  <a:tcPr marL="54864" marR="54864" marT="18288" marB="18288" anchor="ctr">
                    <a:solidFill>
                      <a:srgbClr val="129E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RTO</a:t>
                      </a:r>
                    </a:p>
                  </a:txBody>
                  <a:tcPr marL="54864" marR="54864" marT="18288" marB="18288" anchor="ctr">
                    <a:solidFill>
                      <a:srgbClr val="129E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失败/RPO</a:t>
                      </a:r>
                    </a:p>
                  </a:txBody>
                  <a:tcPr marL="54864" marR="54864" marT="18288" marB="18288" anchor="ctr">
                    <a:solidFill>
                      <a:srgbClr val="129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B 冻结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≈8s term2→3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≈36s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456 /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C 优雅停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≈6s term4→5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≈28s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9,351 / 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D 硬断电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≈9s term6→7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≈33s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439 /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RPO 校验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unique=455,635 dup=0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零丢失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选主后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组内立即恢复可写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E0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8A1A"/>
                </a:solidFill>
                <a:latin typeface="Microsoft YaHe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附录 B · 主从 同AZ 完整数据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08A1A"/>
                </a:solidFill>
                <a:latin typeface="Microsoft YaHei"/>
              </a:rPr>
              <a:t>环境与性能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45920"/>
          <a:ext cx="5532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环境项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值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拓扑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3组×(1主1从)=6，主从同AZ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复制/刷盘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SYNC_MASTER + ASYNC_FLUSH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机型/堆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D4s_v6 4vCPU / -Xmx8g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健康检查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6/6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611880"/>
          <a:ext cx="5532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线程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平均TPS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最大TPS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RT(ms)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失败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27,224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27,448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0.588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52,300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53,597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0.612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84,408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86,509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0.758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128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120,736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126,848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1.062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325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08A1A"/>
                </a:solidFill>
                <a:latin typeface="Microsoft YaHei"/>
              </a:rPr>
              <a:t>故障演练 B / C / 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645920"/>
          <a:ext cx="54223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故障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检测/恢复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RTO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失败/RPO</a:t>
                      </a:r>
                    </a:p>
                  </a:txBody>
                  <a:tcPr marL="54864" marR="54864" marT="18288" marB="18288" anchor="ctr">
                    <a:solidFill>
                      <a:srgbClr val="E08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B 冻结无重试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冻结结束自愈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≈47s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128 /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B 冻结开重试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客户端重试屏蔽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 / 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C 优雅停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FIN ~1s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≈10s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1,197 /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D 硬断电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NS超时 ~108s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≈132s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716 / 理论&gt;0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主从同AZ同时掉电+异步刷盘有风险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store损坏未验证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Microsoft YaHe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Microsoft YaHei"/>
              </a:rPr>
              <a:t>附录 C · 主从 跨AZ 完整数据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778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6FB5"/>
                </a:solidFill>
                <a:latin typeface="Microsoft YaHei"/>
              </a:rPr>
              <a:t>环境与性能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45920"/>
          <a:ext cx="5532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环境项</a:t>
                      </a:r>
                    </a:p>
                  </a:txBody>
                  <a:tcPr marL="54864" marR="54864" marT="18288" marB="18288" anchor="ctr">
                    <a:solidFill>
                      <a:srgbClr val="2E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值</a:t>
                      </a:r>
                    </a:p>
                  </a:txBody>
                  <a:tcPr marL="54864" marR="54864" marT="18288" marB="18288" anchor="ctr">
                    <a:solidFill>
                      <a:srgbClr val="2E6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拓扑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3组×(1主1从)=6，主从跨2AZ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复制/刷盘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SYNC_MASTER + ASYNC_FLUSH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机型/堆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D4s_v6 4vCPU / -Xmx8g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健康检查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6/6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611880"/>
          <a:ext cx="5532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线程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平均TPS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最大TPS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RT(ms)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失败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17,075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17,130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0.937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34,538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35,024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0.926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66,917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67,768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0.956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128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114,001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115,296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1.123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325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6FB5"/>
                </a:solidFill>
                <a:latin typeface="Microsoft YaHei"/>
              </a:rPr>
              <a:t>故障演练 B / C / 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645920"/>
          <a:ext cx="54223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故障</a:t>
                      </a:r>
                    </a:p>
                  </a:txBody>
                  <a:tcPr marL="54864" marR="54864" marT="18288" marB="18288" anchor="ctr">
                    <a:solidFill>
                      <a:srgbClr val="2E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检测/恢复</a:t>
                      </a:r>
                    </a:p>
                  </a:txBody>
                  <a:tcPr marL="54864" marR="54864" marT="18288" marB="18288" anchor="ctr">
                    <a:solidFill>
                      <a:srgbClr val="2E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RTO</a:t>
                      </a:r>
                    </a:p>
                  </a:txBody>
                  <a:tcPr marL="54864" marR="54864" marT="18288" marB="18288" anchor="ctr">
                    <a:solidFill>
                      <a:srgbClr val="2E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失败/RPO</a:t>
                      </a:r>
                    </a:p>
                  </a:txBody>
                  <a:tcPr marL="54864" marR="54864" marT="18288" marB="18288" anchor="ctr">
                    <a:solidFill>
                      <a:srgbClr val="2E6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B 冻结无重试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冻结结束自愈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≈54s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152 /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B 冻结开重试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客户端重试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107 / 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C 优雅停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FIN ~1s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≈30s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3,946 /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D 硬断电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NS超时 ~111s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≈110~130s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12,502* / 0</a:t>
                      </a:r>
                    </a:p>
                  </a:txBody>
                  <a:tcPr marL="54864" marR="54864" marT="18288" marB="18288" anchor="ctr">
                    <a:solidFill>
                      <a:srgbClr val="EC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Microsoft YaHei"/>
                        </a:rPr>
                        <a:t>RPO 校验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unique=200,771 dup=0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</a:rPr>
                        <a:t>零丢失(跨AZ)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Microsoft YaHei"/>
              </a:rPr>
              <a:t>RocketMQ 4.9.7 三方案性能与故障演练对比  ·  germanywestcentral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556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2300</Words>
  <Application>Microsoft Office PowerPoint</Application>
  <PresentationFormat>宽屏</PresentationFormat>
  <Paragraphs>563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Lei Zhang (AZURE ARCHITECT)</cp:lastModifiedBy>
  <cp:revision>1</cp:revision>
  <dcterms:created xsi:type="dcterms:W3CDTF">2013-01-27T09:14:16Z</dcterms:created>
  <dcterms:modified xsi:type="dcterms:W3CDTF">2026-06-28T11:55:21Z</dcterms:modified>
  <cp:category/>
</cp:coreProperties>
</file>