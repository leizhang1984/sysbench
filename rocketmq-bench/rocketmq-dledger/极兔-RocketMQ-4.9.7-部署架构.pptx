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E8F1F5"/>
                </a:solidFill>
                <a:latin typeface="Calibri"/>
              </a:rPr>
              <a:t>极兔速递 · J&amp;T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RocketMQ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4.9.7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典型部署架构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Calibri"/>
              </a:rPr>
              <a:t>Master / Slave · 跨可用区部署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43000"/>
            <a:ext cx="6858000" cy="1078992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1143000"/>
            <a:ext cx="128016" cy="10789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89304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台 NameServer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分别部署于 可用区 1 / 2 / 3，互相独立、无状态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404872"/>
            <a:ext cx="6858000" cy="1078992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404872"/>
            <a:ext cx="128016" cy="1078992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551176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broker-a / b / c — Master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三个 Master 节点 全部部署在 可用区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666744"/>
            <a:ext cx="6858000" cy="1078992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3666744"/>
            <a:ext cx="128016" cy="107899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813048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broker-a / b / c — Slave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三个 Slave 节点 全部部署在 可用区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928616"/>
            <a:ext cx="6858000" cy="1078992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4928616"/>
            <a:ext cx="128016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507492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复制方式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经典 Master/Slave 主从复制（非 DLedger），Slave 只读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6355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RocketMQ 4.9.7  ·  6 brokers (3×M + 3×S)  ·  3 NameServer  ·  3 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1247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部署架构图 — Master/Slave 跨 AZ 布局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78992"/>
            <a:ext cx="4507992" cy="566928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078992"/>
            <a:ext cx="45079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Producer / Consumer 客户端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3657600" cy="4617720"/>
          </a:xfrm>
          <a:prstGeom prst="roundRect">
            <a:avLst/>
          </a:prstGeom>
          <a:solidFill>
            <a:srgbClr val="D5F0E4"/>
          </a:solidFill>
          <a:ln w="25400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657600" cy="4572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可用区 1 (AZ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65960"/>
            <a:ext cx="3657600" cy="4617720"/>
          </a:xfrm>
          <a:prstGeom prst="roundRect">
            <a:avLst/>
          </a:prstGeom>
          <a:solidFill>
            <a:srgbClr val="FBEBD0"/>
          </a:solidFill>
          <a:ln w="254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965960"/>
            <a:ext cx="3657600" cy="457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6596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可用区 2 (AZ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1965960"/>
            <a:ext cx="3657600" cy="4617720"/>
          </a:xfrm>
          <a:prstGeom prst="roundRect">
            <a:avLst/>
          </a:prstGeom>
          <a:solidFill>
            <a:srgbClr val="D6E9F5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5904" y="1965960"/>
            <a:ext cx="36576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96596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可用区 3 (AZ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24328"/>
            <a:ext cx="3017520" cy="65836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624328"/>
            <a:ext cx="279806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NameServer ns-1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无状态 · 路由注册中心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2624328"/>
            <a:ext cx="3017520" cy="65836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24328"/>
            <a:ext cx="279806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NameServer ns-2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无状态 · 路由注册中心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5944" y="2624328"/>
            <a:ext cx="3017520" cy="65836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2624328"/>
            <a:ext cx="279806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NameServer ns-3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无状态 · 路由注册中心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84448"/>
            <a:ext cx="301752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58444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broker-a  Master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可写主节点 (BID=0)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3584448"/>
            <a:ext cx="3017520" cy="74980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58444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broker-a  Slave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只读副本 (BID=1)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13047" y="3813048"/>
            <a:ext cx="905256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590288"/>
            <a:ext cx="301752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59028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broker-b  Master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可写主节点 (BID=0)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36592" y="4590288"/>
            <a:ext cx="3017520" cy="74980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59028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broker-b  Slave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只读副本 (BID=1)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13047" y="4818888"/>
            <a:ext cx="905256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596128"/>
            <a:ext cx="301752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59612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broker-c  Master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可写主节点 (BID=0)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5596128"/>
            <a:ext cx="3017520" cy="74980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5596128"/>
            <a:ext cx="279806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broker-c  Slave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只读副本 (BID=1)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813047" y="5824728"/>
            <a:ext cx="905256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95944" y="3767328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本场景 AZ 3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仅部署 NameServer ns-3，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不承载 broker 节点。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6B7A85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作用：保证名字服务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跨 3 AZ 高可用。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79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图例：</a:t>
            </a:r>
            <a:r>
              <a:rPr sz="1050" b="1">
                <a:solidFill>
                  <a:srgbClr val="1B9E77"/>
                </a:solidFill>
                <a:latin typeface="Calibri"/>
              </a:rPr>
              <a:t>■ Master(可写)  </a:t>
            </a:r>
            <a:r>
              <a:rPr sz="1050" b="1">
                <a:solidFill>
                  <a:srgbClr val="E88A1A"/>
                </a:solidFill>
                <a:latin typeface="Calibri"/>
              </a:rPr>
              <a:t>■ Slave(只读)  </a:t>
            </a:r>
            <a:r>
              <a:rPr sz="1050" b="1">
                <a:solidFill>
                  <a:srgbClr val="065A82"/>
                </a:solidFill>
                <a:latin typeface="Calibri"/>
              </a:rPr>
              <a:t>■ NameServer  </a:t>
            </a:r>
            <a:r>
              <a:rPr sz="1050" b="0">
                <a:solidFill>
                  <a:srgbClr val="6B7A85"/>
                </a:solidFill>
                <a:latin typeface="Calibri"/>
              </a:rPr>
              <a:t>→ 主从复制(ASYNC/SYNC)；客户端经 NameServer 拉路由后读写 Master。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1247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拓扑明细与关键风险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节点分布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7373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组件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691640"/>
            <a:ext cx="1280159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可用区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1280159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可用区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1691640"/>
            <a:ext cx="1280159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691640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可用区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1737360" cy="658368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50008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NameServer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350008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350008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ns-1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350008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350008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ns-2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350008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350008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ns-3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08376"/>
            <a:ext cx="1737360" cy="658368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08376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broker-a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008376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008376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B9E77"/>
                </a:solidFill>
                <a:latin typeface="Calibri"/>
              </a:rPr>
              <a:t>Master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008376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008376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8A1A"/>
                </a:solidFill>
                <a:latin typeface="Calibri"/>
              </a:rPr>
              <a:t>Slave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3008376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3008376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66744"/>
            <a:ext cx="1737360" cy="658368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66744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broker-b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666744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666744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B9E77"/>
                </a:solidFill>
                <a:latin typeface="Calibri"/>
              </a:rPr>
              <a:t>Master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666744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666744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8A1A"/>
                </a:solidFill>
                <a:latin typeface="Calibri"/>
              </a:rPr>
              <a:t>Slave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3666744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79" y="3666744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25112"/>
            <a:ext cx="1737360" cy="658368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25112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broker-c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4325112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325112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B9E77"/>
                </a:solidFill>
                <a:latin typeface="Calibri"/>
              </a:rPr>
              <a:t>Master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4325112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4325112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8A1A"/>
                </a:solidFill>
                <a:latin typeface="Calibri"/>
              </a:rPr>
              <a:t>Slave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79" y="4325112"/>
            <a:ext cx="1280159" cy="658368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79" y="4325112"/>
            <a:ext cx="12801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12064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特点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NameServer 跨 3 AZ → 名字服务高可用，任一 AZ 故障仍可路由。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Master 与 Slave 分置 AZ1 / AZ2 → 单机/单盘故障可由从节点兜底数据。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经典主从架构，部署简单、读写路径清晰。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123444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关键风险与建议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691640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1691640"/>
            <a:ext cx="12801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3408" y="1810512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AZ 1 整体故障 = 全部 Master 不可用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80" b="0">
                <a:solidFill>
                  <a:srgbClr val="6B7A85"/>
                </a:solidFill>
                <a:latin typeface="Calibri"/>
              </a:rPr>
              <a:t>三个 Master 都在 AZ1，AZ1 宕机时写入全部中断；Slave 在 AZ2 只读、不自动升主。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898648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898648"/>
            <a:ext cx="128016" cy="107899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3408" y="3017520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4.9.7 经典主从不自动选主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80" b="0">
                <a:solidFill>
                  <a:srgbClr val="6B7A85"/>
                </a:solidFill>
                <a:latin typeface="Calibri"/>
              </a:rPr>
              <a:t>原生 Master/Slave 不会自动故障转移，需人工或借助工具切换；恢复时间取决于运维。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105656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4105656"/>
            <a:ext cx="128016" cy="107899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4224528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ASYNC 复制存在 RPO&gt;0 风险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80" b="0">
                <a:solidFill>
                  <a:srgbClr val="6B7A85"/>
                </a:solidFill>
                <a:latin typeface="Calibri"/>
              </a:rPr>
              <a:t>若用异步刷盘/异步复制，Master 宕机时未同步到 Slave 的消息可能丢失。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5312664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0" y="5312664"/>
            <a:ext cx="128016" cy="1078992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93408" y="5431536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建议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80" b="0">
                <a:solidFill>
                  <a:srgbClr val="6B7A85"/>
                </a:solidFill>
                <a:latin typeface="Calibri"/>
              </a:rPr>
              <a:t>① Master 分散到多 AZ；② 采用 DLedger(Raft) 实现自动选主；③ 关键 topic 用 SYNC 复制保 RPO=0。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