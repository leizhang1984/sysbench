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8F1F5"/>
                </a:solidFill>
                <a:latin typeface="Calibri"/>
              </a:rPr>
              <a:t>Azure · rocketmqnew-rg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RocketMQ 4.9.7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DLedger (Raft)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集群部署架构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8F1F5"/>
                </a:solidFill>
                <a:latin typeface="Calibri"/>
              </a:rPr>
              <a:t>多副本自动选主 · 跨 3 可用区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097280"/>
            <a:ext cx="6858000" cy="1060704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1097280"/>
            <a:ext cx="128016" cy="10607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225295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2 组 × 3 副本 = 6 broker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E8F1F5"/>
                </a:solidFill>
                <a:latin typeface="Calibri"/>
              </a:rPr>
              <a:t>broker-a / broker-b，每组一个 3 节点 DLedger Raft 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340864"/>
            <a:ext cx="6858000" cy="1060704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2340864"/>
            <a:ext cx="128016" cy="1060704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4688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每组副本跨 3 AZ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E8F1F5"/>
                </a:solidFill>
                <a:latin typeface="Calibri"/>
              </a:rPr>
              <a:t>n0/n1/n2 分处 可用区 1 / 2 / 3，任一 AZ 故障仍保多数派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584448"/>
            <a:ext cx="6858000" cy="1060704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3584448"/>
            <a:ext cx="128016" cy="10607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712463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自动选主 (Raft 多数派)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E8F1F5"/>
                </a:solidFill>
                <a:latin typeface="Calibri"/>
              </a:rPr>
              <a:t>Leader 失联 → Follower 心跳超时触发选举，无需外部仲裁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828032"/>
            <a:ext cx="6858000" cy="1060704"/>
          </a:xfrm>
          <a:prstGeom prst="roundRect">
            <a:avLst/>
          </a:prstGeom>
          <a:solidFill>
            <a:srgbClr val="2A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4828032"/>
            <a:ext cx="128016" cy="106070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4956048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3 台 NameServer 跨 AZ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E8F1F5"/>
                </a:solidFill>
                <a:latin typeface="Calibri"/>
              </a:rPr>
              <a:t>无状态路由中心，分别部署于 AZ 1 / 2 /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6355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7A85"/>
                </a:solidFill>
                <a:latin typeface="Calibri"/>
              </a:rPr>
              <a:t>flushDiskType=ASYNC_FLUSH · preferredLeaderId=n1 · listenPort 10911 · DLedger 40911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1247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部署架构图 — DLedger 跨 AZ 布局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024128"/>
            <a:ext cx="5029200" cy="54864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024128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客户端 (rocketmq-client) · Producer /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657600" cy="4709160"/>
          </a:xfrm>
          <a:prstGeom prst="roundRect">
            <a:avLst/>
          </a:prstGeom>
          <a:solidFill>
            <a:srgbClr val="DDECF7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可用区 1 (AZ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74519"/>
            <a:ext cx="3657600" cy="4709160"/>
          </a:xfrm>
          <a:prstGeom prst="roundRect">
            <a:avLst/>
          </a:prstGeom>
          <a:solidFill>
            <a:srgbClr val="D5F0E4"/>
          </a:solidFill>
          <a:ln w="25400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874519"/>
            <a:ext cx="3657600" cy="457200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874519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可用区 2 (AZ 2) — Leader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1874519"/>
            <a:ext cx="3657600" cy="4709160"/>
          </a:xfrm>
          <a:prstGeom prst="roundRect">
            <a:avLst/>
          </a:prstGeom>
          <a:solidFill>
            <a:srgbClr val="ECE2F5"/>
          </a:solidFill>
          <a:ln w="254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75904" y="1874519"/>
            <a:ext cx="3657600" cy="4572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874519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可用区 3 (AZ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14600"/>
            <a:ext cx="3108960" cy="56692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2926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NameServer 10.170.0.4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:9876 · 无状态路由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514600"/>
            <a:ext cx="3108960" cy="56692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2514600"/>
            <a:ext cx="2926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NameServer 10.170.0.6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:9876 · 无状态路由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2514600"/>
            <a:ext cx="3108960" cy="566928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1664" y="2514600"/>
            <a:ext cx="2926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NameServer 10.170.0.5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:9876 · 无状态路由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83280"/>
            <a:ext cx="3108960" cy="868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83280"/>
            <a:ext cx="29260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a-0 10.170.0.10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E8F1F5"/>
                </a:solidFill>
                <a:latin typeface="Calibri"/>
              </a:rPr>
              <a:t>n0 · Follower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0872" y="3383280"/>
            <a:ext cx="3108960" cy="868680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3383280"/>
            <a:ext cx="29260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a-1 10.170.0.11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E8F1F5"/>
                </a:solidFill>
                <a:latin typeface="Calibri"/>
              </a:rPr>
              <a:t>n1 · Leader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50224" y="3383280"/>
            <a:ext cx="3108960" cy="868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4" y="3383280"/>
            <a:ext cx="29260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a-2 10.170.0.12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E8F1F5"/>
                </a:solidFill>
                <a:latin typeface="Calibri"/>
              </a:rPr>
              <a:t>n2 · Follower</a:t>
            </a:r>
          </a:p>
        </p:txBody>
      </p:sp>
      <p:sp>
        <p:nvSpPr>
          <p:cNvPr id="28" name="Left-Right Arrow 27"/>
          <p:cNvSpPr/>
          <p:nvPr/>
        </p:nvSpPr>
        <p:spPr>
          <a:xfrm>
            <a:off x="3867912" y="3698748"/>
            <a:ext cx="795527" cy="237744"/>
          </a:xfrm>
          <a:prstGeom prst="leftRightArrow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-Right Arrow 28"/>
          <p:cNvSpPr/>
          <p:nvPr/>
        </p:nvSpPr>
        <p:spPr>
          <a:xfrm>
            <a:off x="7827263" y="3698748"/>
            <a:ext cx="795528" cy="237744"/>
          </a:xfrm>
          <a:prstGeom prst="leftRightArrow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462272"/>
            <a:ext cx="3108960" cy="868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62272"/>
            <a:ext cx="29260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b-0 10.170.0.13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E8F1F5"/>
                </a:solidFill>
                <a:latin typeface="Calibri"/>
              </a:rPr>
              <a:t>n0 · Follower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4462272"/>
            <a:ext cx="3108960" cy="868680"/>
          </a:xfrm>
          <a:prstGeom prst="round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4462272"/>
            <a:ext cx="29260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b-1 10.170.0.14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E8F1F5"/>
                </a:solidFill>
                <a:latin typeface="Calibri"/>
              </a:rPr>
              <a:t>n1 · Leader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50224" y="4462272"/>
            <a:ext cx="3108960" cy="868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4462272"/>
            <a:ext cx="29260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b-2 10.170.0.15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E8F1F5"/>
                </a:solidFill>
                <a:latin typeface="Calibri"/>
              </a:rPr>
              <a:t>n2 · Follower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3867912" y="4777740"/>
            <a:ext cx="795527" cy="237744"/>
          </a:xfrm>
          <a:prstGeom prst="leftRightArrow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-Right Arrow 36"/>
          <p:cNvSpPr/>
          <p:nvPr/>
        </p:nvSpPr>
        <p:spPr>
          <a:xfrm>
            <a:off x="7827263" y="4777740"/>
            <a:ext cx="795528" cy="237744"/>
          </a:xfrm>
          <a:prstGeom prst="leftRightArrow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8853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7A85"/>
                </a:solidFill>
                <a:latin typeface="Calibri"/>
              </a:rPr>
              <a:t>◀ broker-a 组 = 3 节点 DLedger Raft 组（多数派 2/3 复制）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6752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7A85"/>
                </a:solidFill>
                <a:latin typeface="Calibri"/>
              </a:rPr>
              <a:t>◀ broker-b 组 = 3 节点 DLedger Raft 组（多数派 2/3 复制）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638544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图例：</a:t>
            </a:r>
            <a:r>
              <a:rPr sz="1050" b="1">
                <a:solidFill>
                  <a:srgbClr val="1B9E77"/>
                </a:solidFill>
                <a:latin typeface="Calibri"/>
              </a:rPr>
              <a:t>■ Leader(可写 :10911)  </a:t>
            </a:r>
            <a:r>
              <a:rPr sz="1050" b="1">
                <a:solidFill>
                  <a:srgbClr val="1C7293"/>
                </a:solidFill>
                <a:latin typeface="Calibri"/>
              </a:rPr>
              <a:t>■ Follower(副本)  </a:t>
            </a:r>
            <a:r>
              <a:rPr sz="1050" b="1">
                <a:solidFill>
                  <a:srgbClr val="065A82"/>
                </a:solidFill>
                <a:latin typeface="Calibri"/>
              </a:rPr>
              <a:t>■ NameServer  </a:t>
            </a:r>
            <a:r>
              <a:rPr sz="1050" b="0">
                <a:solidFill>
                  <a:srgbClr val="6B7A85"/>
                </a:solidFill>
                <a:latin typeface="Calibri"/>
              </a:rPr>
              <a:t>↔ DLedger(Raft) 复制 :40911 — Leader 失联即由多数派自动选主。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1247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节点分布与故障转移机制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节点分布 (BID 0 = Leader)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41732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691640"/>
            <a:ext cx="13441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组件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691640"/>
            <a:ext cx="13868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1095" y="1691640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AZ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1360" y="1691640"/>
            <a:ext cx="13868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7936" y="1691640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AZ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1691640"/>
            <a:ext cx="13868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4776" y="1691640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AZ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04872"/>
            <a:ext cx="1417320" cy="713232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2404872"/>
            <a:ext cx="13441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NameServer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2404872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11095" y="2404872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10.170.0.4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1360" y="2404872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7936" y="2404872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10.170.0.6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8200" y="2404872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4776" y="2404872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10.170.0.5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18104"/>
            <a:ext cx="1417320" cy="713232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3118104"/>
            <a:ext cx="13441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broker-a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3118104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11095" y="3118104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C7293"/>
                </a:solidFill>
                <a:latin typeface="Calibri"/>
              </a:rPr>
              <a:t>a-0 Follower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1360" y="3118104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7936" y="3118104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B9E77"/>
                </a:solidFill>
                <a:latin typeface="Calibri"/>
              </a:rPr>
              <a:t>a-1 Leader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8200" y="3118104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4776" y="3118104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C7293"/>
                </a:solidFill>
                <a:latin typeface="Calibri"/>
              </a:rPr>
              <a:t>a-2 Follower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31336"/>
            <a:ext cx="1417320" cy="713232"/>
          </a:xfrm>
          <a:prstGeom prst="rect">
            <a:avLst/>
          </a:prstGeom>
          <a:solidFill>
            <a:srgbClr val="EAF1F5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831336"/>
            <a:ext cx="134416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broker-b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3831336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11095" y="3831336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C7293"/>
                </a:solidFill>
                <a:latin typeface="Calibri"/>
              </a:rPr>
              <a:t>b-0 Follower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1360" y="3831336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7936" y="3831336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B9E77"/>
                </a:solidFill>
                <a:latin typeface="Calibri"/>
              </a:rPr>
              <a:t>b-1 Leader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8200" y="3831336"/>
            <a:ext cx="1386840" cy="713232"/>
          </a:xfrm>
          <a:prstGeom prst="rect">
            <a:avLst/>
          </a:prstGeom>
          <a:solidFill>
            <a:srgbClr val="F4F8FA"/>
          </a:solidFill>
          <a:ln w="12700">
            <a:solidFill>
              <a:srgbClr val="CC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4776" y="3831336"/>
            <a:ext cx="131368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C7293"/>
                </a:solidFill>
                <a:latin typeface="Calibri"/>
              </a:rPr>
              <a:t>b-2 Follower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70916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特点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每组 3 副本跨 3 AZ → 任一 AZ 整体故障仍保留多数派 (2/3)，可继续选主。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Raft 多数派复制 + ASYNC_FLUSH，已提交消息多数派确认。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preferredLeaderId=n1：恢复后 Leader 自动回到 AZ2 的 n1 节点。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• 客户端经 NameServer 拉路由后读写 Leader；Follower 只读跟随。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23444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自动故障转移机制 (实测)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691640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1691640"/>
            <a:ext cx="128016" cy="10789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3408" y="1801368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DLedger 心跳检测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60" b="0">
                <a:solidFill>
                  <a:srgbClr val="6B7A85"/>
                </a:solidFill>
                <a:latin typeface="Calibri"/>
              </a:rPr>
              <a:t>Leader→Follower 心跳；失联后 Follower 心跳超时 (~6s) 触发新一轮选举，term+1。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898648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898648"/>
            <a:ext cx="128016" cy="1078992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8" y="3008376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服务端选举 ≈ 7–9s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60" b="0">
                <a:solidFill>
                  <a:srgbClr val="6B7A85"/>
                </a:solidFill>
                <a:latin typeface="Calibri"/>
              </a:rPr>
              <a:t>新 Leader 选出 (role=LEADER, SYNC_MASTER) 后同一秒向 3 台 NameServer 注册 broker[0]。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105656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105656"/>
            <a:ext cx="128016" cy="1078992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3408" y="4215384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零数据丢失 RPO = 0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60" b="0">
                <a:solidFill>
                  <a:srgbClr val="6B7A85"/>
                </a:solidFill>
                <a:latin typeface="Calibri"/>
              </a:rPr>
              <a:t>四次故障注入 (kill / SIGSTOP) committed 消息全部存活；多数派已确认即不丢。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312664"/>
            <a:ext cx="5349240" cy="107899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5312664"/>
            <a:ext cx="128016" cy="10789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5422392"/>
            <a:ext cx="4892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21292E"/>
                </a:solidFill>
                <a:latin typeface="Calibri"/>
              </a:rPr>
              <a:t>无脑裂 · term 单调递增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60" b="0">
                <a:solidFill>
                  <a:srgbClr val="6B7A85"/>
                </a:solidFill>
                <a:latin typeface="Calibri"/>
              </a:rPr>
              <a:t>每次仅产生一个新 Leader，落败副本统一转 Follower/SLAVE，符合 Raft 语义。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