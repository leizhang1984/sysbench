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用户可见中断 (秒)</c:v>
                </c:pt>
              </c:strCache>
            </c:strRef>
          </c:tx>
          <c:dPt>
            <c:idx val="0"/>
            <c:spPr>
              <a:solidFill>
                <a:srgbClr val="1B9E77"/>
              </a:solidFill>
            </c:spPr>
          </c:dPt>
          <c:dPt>
            <c:idx val="1"/>
            <c:spPr>
              <a:solidFill>
                <a:srgbClr val="1B9E77"/>
              </a:solidFill>
            </c:spPr>
          </c:dPt>
          <c:dPt>
            <c:idx val="2"/>
            <c:spPr>
              <a:solidFill>
                <a:srgbClr val="E88A1A"/>
              </a:solidFill>
            </c:spPr>
          </c:dPt>
          <c:dPt>
            <c:idx val="3"/>
            <c:spPr>
              <a:solidFill>
                <a:srgbClr val="E88A1A"/>
              </a:solidFill>
            </c:spPr>
          </c:dPt>
          <c:cat>
            <c:strRef>
              <c:f>Sheet1!$A$2:$A$5</c:f>
              <c:strCache>
                <c:ptCount val="4"/>
                <c:pt idx="0">
                  <c:v>Run1
kill-a</c:v>
                </c:pt>
                <c:pt idx="1">
                  <c:v>Run2
kill-b</c:v>
                </c:pt>
                <c:pt idx="2">
                  <c:v>Run3
stop-a</c:v>
                </c:pt>
                <c:pt idx="3">
                  <c:v>Run4
stop-b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</c:v>
                </c:pt>
                <c:pt idx="1">
                  <c:v>10</c:v>
                </c:pt>
                <c:pt idx="2">
                  <c:v>37</c:v>
                </c:pt>
                <c:pt idx="3">
                  <c:v>12</c:v>
                </c:pt>
              </c:numCache>
            </c:numRef>
          </c:val>
        </c:ser>
        <c:dLbls>
          <c:numFmt formatCode="0&quot;s&quot;" sourceLinked="0"/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故障期失败数</c:v>
                </c:pt>
              </c:strCache>
            </c:strRef>
          </c:tx>
          <c:dPt>
            <c:idx val="0"/>
            <c:spPr>
              <a:solidFill>
                <a:srgbClr val="1B9E77"/>
              </a:solidFill>
            </c:spPr>
          </c:dPt>
          <c:dPt>
            <c:idx val="1"/>
            <c:spPr>
              <a:solidFill>
                <a:srgbClr val="1B9E77"/>
              </a:solidFill>
            </c:spPr>
          </c:dPt>
          <c:dPt>
            <c:idx val="2"/>
            <c:spPr>
              <a:solidFill>
                <a:srgbClr val="E88A1A"/>
              </a:solidFill>
            </c:spPr>
          </c:dPt>
          <c:dPt>
            <c:idx val="3"/>
            <c:spPr>
              <a:solidFill>
                <a:srgbClr val="E88A1A"/>
              </a:solidFill>
            </c:spPr>
          </c:dPt>
          <c:cat>
            <c:strRef>
              <c:f>Sheet1!$A$2:$A$5</c:f>
              <c:strCache>
                <c:ptCount val="4"/>
                <c:pt idx="0">
                  <c:v>Run1
kill-a</c:v>
                </c:pt>
                <c:pt idx="1">
                  <c:v>Run2
kill-b</c:v>
                </c:pt>
                <c:pt idx="2">
                  <c:v>Run3
stop-a</c:v>
                </c:pt>
                <c:pt idx="3">
                  <c:v>Run4
stop-b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84</c:v>
                </c:pt>
                <c:pt idx="3">
                  <c:v>22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服务端选举耗时 (秒)</c:v>
                </c:pt>
              </c:strCache>
            </c:strRef>
          </c:tx>
          <c:spPr>
            <a:solidFill>
              <a:srgbClr val="065A82"/>
            </a:solidFill>
          </c:spPr>
          <c:cat>
            <c:strRef>
              <c:f>Sheet1!$A$2:$A$5</c:f>
              <c:strCache>
                <c:ptCount val="4"/>
                <c:pt idx="0">
                  <c:v>Run1
kill-a</c:v>
                </c:pt>
                <c:pt idx="1">
                  <c:v>Run2
kill-b</c:v>
                </c:pt>
                <c:pt idx="2">
                  <c:v>Run3
stop-a</c:v>
                </c:pt>
                <c:pt idx="3">
                  <c:v>Run4
stop-b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</c:v>
                </c:pt>
                <c:pt idx="1">
                  <c:v>7</c:v>
                </c:pt>
                <c:pt idx="2">
                  <c:v>9</c:v>
                </c:pt>
                <c:pt idx="3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客户端恢复耗时 (秒)</c:v>
                </c:pt>
              </c:strCache>
            </c:strRef>
          </c:tx>
          <c:spPr>
            <a:solidFill>
              <a:srgbClr val="E88A1A"/>
            </a:solidFill>
          </c:spPr>
          <c:cat>
            <c:strRef>
              <c:f>Sheet1!$A$2:$A$5</c:f>
              <c:strCache>
                <c:ptCount val="4"/>
                <c:pt idx="0">
                  <c:v>Run1
kill-a</c:v>
                </c:pt>
                <c:pt idx="1">
                  <c:v>Run2
kill-b</c:v>
                </c:pt>
                <c:pt idx="2">
                  <c:v>Run3
stop-a</c:v>
                </c:pt>
                <c:pt idx="3">
                  <c:v>Run4
stop-b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</c:v>
                </c:pt>
                <c:pt idx="1">
                  <c:v>10</c:v>
                </c:pt>
                <c:pt idx="2">
                  <c:v>37</c:v>
                </c:pt>
                <c:pt idx="3">
                  <c:v>12</c:v>
                </c:pt>
              </c:numCache>
            </c:numRef>
          </c:val>
        </c:ser>
        <c:dLbls>
          <c:numFmt formatCode="0&quot;s&quot;" sourceLinked="0"/>
          <c:txPr>
            <a:bodyPr/>
            <a:lstStyle/>
            <a:p>
              <a:pPr>
                <a:defRPr sz="900" b="1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0">
                <a:solidFill>
                  <a:srgbClr val="E8F1F5"/>
                </a:solidFill>
                <a:latin typeface="Calibri"/>
              </a:rPr>
              <a:t>故障转移测试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3246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RocketMQ 4.9.7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DLedger 故障转移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实测分析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880360"/>
            <a:ext cx="3246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9FC6D8"/>
                </a:solidFill>
                <a:latin typeface="Calibri"/>
              </a:rPr>
              <a:t>方法要点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F1F5"/>
                </a:solidFill>
                <a:latin typeface="Calibri"/>
              </a:rPr>
              <a:t>• 先查当前 master 位置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F1F5"/>
                </a:solidFill>
                <a:latin typeface="Calibri"/>
              </a:rPr>
              <a:t>• 只在该 master 单台 VM 注入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F1F5"/>
                </a:solidFill>
                <a:latin typeface="Calibri"/>
              </a:rPr>
              <a:t>• 每次只打一个组，另一组在线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F1F5"/>
                </a:solidFill>
                <a:latin typeface="Calibri"/>
              </a:rPr>
              <a:t>• 开启客户端重试 retries=2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0">
                <a:solidFill>
                  <a:srgbClr val="E8F1F5"/>
                </a:solidFill>
                <a:latin typeface="Calibri"/>
              </a:rPr>
              <a:t>• 注入→恢复→下一次，共 4 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807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8FA9B8"/>
                </a:solidFill>
                <a:latin typeface="Calibri"/>
              </a:rPr>
              <a:t>Azure rocketmqnew-rg · 2组×3副本跨3AZ · 1000 msg/s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502920"/>
            <a:ext cx="7223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libri"/>
              </a:rPr>
              <a:t>核心数据：4 次注入全部零数据丢失（RPO=0）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234440"/>
            <a:ext cx="3493008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234440"/>
            <a:ext cx="109728" cy="1481328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1362456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B9E77"/>
                </a:solidFill>
                <a:latin typeface="Calibri"/>
              </a:rPr>
              <a:t>Run 1  </a:t>
            </a:r>
            <a:r>
              <a:rPr sz="1200" b="1">
                <a:solidFill>
                  <a:srgbClr val="21292E"/>
                </a:solidFill>
                <a:latin typeface="Calibri"/>
              </a:rPr>
              <a:t>kill broker-a master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2312" y="173736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400" b="1">
                <a:solidFill>
                  <a:srgbClr val="065A82"/>
                </a:solidFill>
                <a:latin typeface="Calibri"/>
              </a:rPr>
              <a:t>≈8s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仅延迟抬升（中断）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737360"/>
            <a:ext cx="1188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400" b="1">
                <a:solidFill>
                  <a:srgbClr val="1B9E77"/>
                </a:solidFill>
                <a:latin typeface="Calibri"/>
              </a:rPr>
              <a:t>0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失败数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0456" y="1234440"/>
            <a:ext cx="3493008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0456" y="1234440"/>
            <a:ext cx="109728" cy="1481328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362456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B9E77"/>
                </a:solidFill>
                <a:latin typeface="Calibri"/>
              </a:rPr>
              <a:t>Run 2  </a:t>
            </a:r>
            <a:r>
              <a:rPr sz="1200" b="1">
                <a:solidFill>
                  <a:srgbClr val="21292E"/>
                </a:solidFill>
                <a:latin typeface="Calibri"/>
              </a:rPr>
              <a:t>kill broker-b master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1737360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400" b="1">
                <a:solidFill>
                  <a:srgbClr val="065A82"/>
                </a:solidFill>
                <a:latin typeface="Calibri"/>
              </a:rPr>
              <a:t>≈10s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仅延迟抬升（中断）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69296" y="1737360"/>
            <a:ext cx="1188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400" b="1">
                <a:solidFill>
                  <a:srgbClr val="1B9E77"/>
                </a:solidFill>
                <a:latin typeface="Calibri"/>
              </a:rPr>
              <a:t>0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失败数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916936"/>
            <a:ext cx="3493008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2916936"/>
            <a:ext cx="109728" cy="14813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3044952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E88A1A"/>
                </a:solidFill>
                <a:latin typeface="Calibri"/>
              </a:rPr>
              <a:t>Run 3  </a:t>
            </a:r>
            <a:r>
              <a:rPr sz="1200" b="1">
                <a:solidFill>
                  <a:srgbClr val="21292E"/>
                </a:solidFill>
                <a:latin typeface="Calibri"/>
              </a:rPr>
              <a:t>SIGSTOP broker-a master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82312" y="3419856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400" b="1">
                <a:solidFill>
                  <a:srgbClr val="065A82"/>
                </a:solidFill>
                <a:latin typeface="Calibri"/>
              </a:rPr>
              <a:t>≈37s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写入塌陷（中断）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419856"/>
            <a:ext cx="1188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400" b="1">
                <a:solidFill>
                  <a:srgbClr val="E88A1A"/>
                </a:solidFill>
                <a:latin typeface="Calibri"/>
              </a:rPr>
              <a:t>84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失败数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0456" y="2916936"/>
            <a:ext cx="3493008" cy="14813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20456" y="2916936"/>
            <a:ext cx="109728" cy="14813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3044952"/>
            <a:ext cx="3127248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E88A1A"/>
                </a:solidFill>
                <a:latin typeface="Calibri"/>
              </a:rPr>
              <a:t>Run 4  </a:t>
            </a:r>
            <a:r>
              <a:rPr sz="1200" b="1">
                <a:solidFill>
                  <a:srgbClr val="21292E"/>
                </a:solidFill>
                <a:latin typeface="Calibri"/>
              </a:rPr>
              <a:t>SIGSTOP broker-b master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6488" y="3419856"/>
            <a:ext cx="1737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400" b="1">
                <a:solidFill>
                  <a:srgbClr val="065A82"/>
                </a:solidFill>
                <a:latin typeface="Calibri"/>
              </a:rPr>
              <a:t>≈12s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写入塌陷（中断）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69296" y="3419856"/>
            <a:ext cx="1188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400" b="1">
                <a:solidFill>
                  <a:srgbClr val="E88A1A"/>
                </a:solidFill>
                <a:latin typeface="Calibri"/>
              </a:rPr>
              <a:t>22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失败数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4526280"/>
            <a:ext cx="7187183" cy="1783080"/>
          </a:xfrm>
          <a:prstGeom prst="roundRect">
            <a:avLst/>
          </a:prstGeom>
          <a:solidFill>
            <a:srgbClr val="0E3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4681728"/>
            <a:ext cx="6675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7FD4F0"/>
                </a:solidFill>
                <a:latin typeface="Calibri"/>
              </a:rPr>
              <a:t>关键洞察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5029200"/>
            <a:ext cx="67208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1B9E77"/>
                </a:solidFill>
                <a:latin typeface="Calibri"/>
              </a:rPr>
              <a:t>• </a:t>
            </a:r>
            <a:r>
              <a:rPr sz="1300" b="0">
                <a:solidFill>
                  <a:srgbClr val="E8F1F5"/>
                </a:solidFill>
                <a:latin typeface="Calibri"/>
              </a:rPr>
              <a:t>kill -9 + 重试 + 双组 topic ⇒ 对应用近乎透明：吞吐不掉、0 失败，仅 8–10s 延迟抬升。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E88A1A"/>
                </a:solidFill>
                <a:latin typeface="Calibri"/>
              </a:rPr>
              <a:t>• </a:t>
            </a:r>
            <a:r>
              <a:rPr sz="1300" b="0">
                <a:solidFill>
                  <a:srgbClr val="E8F1F5"/>
                </a:solidFill>
                <a:latin typeface="Calibri"/>
              </a:rPr>
              <a:t>SIGSTOP（无 RST）即便开重试仍有中断：线程挂满 3s 超时才改投，恢复 12–37s。</a:t>
            </a:r>
          </a:p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7FD4F0"/>
                </a:solidFill>
                <a:latin typeface="Calibri"/>
              </a:rPr>
              <a:t>• </a:t>
            </a:r>
            <a:r>
              <a:rPr sz="1300" b="0">
                <a:solidFill>
                  <a:srgbClr val="E8F1F5"/>
                </a:solidFill>
                <a:latin typeface="Calibri"/>
              </a:rPr>
              <a:t>服务端选举一致快（≈7–9s），瓶颈在客户端检测/改投；留有在线组+开重试是降中断的关键。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数据分析：中断时长、失败数与 RPO 核对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BFDDEA"/>
                </a:solidFill>
                <a:latin typeface="Calibri"/>
              </a:rPr>
              <a:t>kill vs SIGSTOP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1430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9502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A85"/>
                </a:solidFill>
                <a:latin typeface="Calibri"/>
              </a:rPr>
              <a:t>中断时长：kill 几乎无感，SIGSTOP 明显且有方差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343400" y="114300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343400" y="395020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6B7A85"/>
                </a:solidFill>
                <a:latin typeface="Calibri"/>
              </a:rPr>
              <a:t>失败数：kill 经重试改投=0；SIGSTOP 累积少量超时失败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1312" y="1143000"/>
            <a:ext cx="3474720" cy="280720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8930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RPO 全量去重核对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655064"/>
            <a:ext cx="3255263" cy="329184"/>
          </a:xfrm>
          <a:prstGeom prst="rect">
            <a:avLst/>
          </a:prstGeom>
          <a:solidFill>
            <a:srgbClr val="DD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73352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62872" y="1673352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okTotal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04704" y="1673352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unique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83112" y="1673352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65A82"/>
                </a:solidFill>
                <a:latin typeface="Calibri"/>
              </a:rPr>
              <a:t>丢失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020824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Run1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62872" y="2020824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241,828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04704" y="2020824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241,828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83112" y="2020824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B9E77"/>
                </a:solidFill>
                <a:latin typeface="Calibri"/>
              </a:rP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68296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Run2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368296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241,382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04704" y="2368296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241,382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3112" y="2368296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B9E77"/>
                </a:solidFill>
                <a:latin typeface="Calibri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715768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Run3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2715768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205,537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04704" y="2715768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205,580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2715768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B9E77"/>
                </a:solidFill>
                <a:latin typeface="Calibr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063240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Run4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3063240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229,478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04704" y="3063240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21292E"/>
                </a:solidFill>
                <a:latin typeface="Calibri"/>
              </a:rPr>
              <a:t>229,483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3112" y="3063240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1B9E77"/>
                </a:solidFill>
                <a:latin typeface="Calibri"/>
              </a:rPr>
              <a:t>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5204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6B7A85"/>
                </a:solidFill>
                <a:latin typeface="Calibri"/>
              </a:rPr>
              <a:t>unique ≥ okTotal：at-least-once，非丢失；dup 由重试引入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434840"/>
            <a:ext cx="3657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434840"/>
            <a:ext cx="3657600" cy="109728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690872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B9E77"/>
                </a:solidFill>
                <a:latin typeface="Calibri"/>
              </a:rPr>
              <a:t>可用性分水岭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212079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1292E"/>
                </a:solidFill>
                <a:latin typeface="Calibri"/>
              </a:rPr>
              <a:t>至少一个组在线 + topic 跨多组 + 开重试，崩溃类故障可被重试即时旁路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61688" y="4434840"/>
            <a:ext cx="3657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61688" y="4434840"/>
            <a:ext cx="3657600" cy="1097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90288" y="4690872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88A1A"/>
                </a:solidFill>
                <a:latin typeface="Calibri"/>
              </a:rPr>
              <a:t>SIGSTOP 救不了阻塞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0288" y="5212079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1292E"/>
                </a:solidFill>
                <a:latin typeface="Calibri"/>
              </a:rPr>
              <a:t>无 RST 连接被冻结，必须挂满 sendMsgTimeout(3s) 才改投，SLA 按数十秒估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0456" y="4434840"/>
            <a:ext cx="365760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0456" y="4434840"/>
            <a:ext cx="3657600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49056" y="4690872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065A82"/>
                </a:solidFill>
                <a:latin typeface="Calibri"/>
              </a:rPr>
              <a:t>数据零丢失成立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49056" y="5212079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250" b="0">
                <a:solidFill>
                  <a:srgbClr val="21292E"/>
                </a:solidFill>
                <a:latin typeface="Calibri"/>
              </a:rPr>
              <a:t>ASYNC_FLUSH + DLedger 多数派复制；消费端需幂等以容忍少量重复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FFFFFF"/>
                </a:solidFill>
                <a:latin typeface="Calibri"/>
              </a:rPr>
              <a:t>服务端指标分析：DLedger 选举 + NameServer 注册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09760" y="201168"/>
            <a:ext cx="21945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BFDDEA"/>
                </a:solidFill>
                <a:latin typeface="Calibri"/>
              </a:rPr>
              <a:t>broker 日志 UTC+8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02920" y="1188720"/>
          <a:ext cx="548640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297680"/>
            <a:ext cx="5486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服务端选举一致地快（≈7–9s）；kill 时客户端与之同步，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6B7A85"/>
                </a:solidFill>
                <a:latin typeface="Calibri"/>
              </a:rPr>
              <a:t>SIGSTOP 时客户端却滞后到 12–37s ⇒ 瓶颈在客户端而非服务端。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88720"/>
            <a:ext cx="5440680" cy="3063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35024"/>
            <a:ext cx="4983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65A82"/>
                </a:solidFill>
                <a:latin typeface="Calibri"/>
              </a:rPr>
              <a:t>选举与注册明细（实测日志）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73368" y="1719072"/>
            <a:ext cx="5221224" cy="329184"/>
          </a:xfrm>
          <a:prstGeom prst="rect">
            <a:avLst/>
          </a:prstGeom>
          <a:solidFill>
            <a:srgbClr val="DD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55648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65A82"/>
                </a:solidFill>
                <a:latin typeface="Calibri"/>
              </a:rPr>
              <a:t>测试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55648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65A82"/>
                </a:solidFill>
                <a:latin typeface="Calibri"/>
              </a:rPr>
              <a:t>新 Leader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1755648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65A82"/>
                </a:solidFill>
                <a:latin typeface="Calibri"/>
              </a:rPr>
              <a:t>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755648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65A82"/>
                </a:solidFill>
                <a:latin typeface="Calibri"/>
              </a:rPr>
              <a:t>切换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61320" y="1755648"/>
            <a:ext cx="11887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065A82"/>
                </a:solidFill>
                <a:latin typeface="Calibri"/>
              </a:rPr>
              <a:t>NS 注册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39696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9E77"/>
                </a:solidFill>
                <a:latin typeface="Calibri"/>
              </a:rPr>
              <a:t>Run1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139696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1292E"/>
                </a:solidFill>
                <a:latin typeface="Calibri"/>
              </a:rPr>
              <a:t>a-2 (.12)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2139696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139696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18ms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2139696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3台 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23744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1B9E77"/>
                </a:solidFill>
                <a:latin typeface="Calibri"/>
              </a:rPr>
              <a:t>Run2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2523744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1292E"/>
                </a:solidFill>
                <a:latin typeface="Calibri"/>
              </a:rPr>
              <a:t>b-0 (.13)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523744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523744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18ms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61320" y="2523744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3台 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907791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E88A1A"/>
                </a:solidFill>
                <a:latin typeface="Calibri"/>
              </a:rPr>
              <a:t>Run3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907791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1292E"/>
                </a:solidFill>
                <a:latin typeface="Calibri"/>
              </a:rPr>
              <a:t>a-2 (.12)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32520" y="2907791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907791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603ms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2907791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3台 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291839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E88A1A"/>
                </a:solidFill>
                <a:latin typeface="Calibri"/>
              </a:rPr>
              <a:t>Run4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0" y="3291839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21292E"/>
                </a:solidFill>
                <a:latin typeface="Calibri"/>
              </a:rPr>
              <a:t>b-0 (.13)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291839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3291839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603ms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61320" y="3291839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>
                <a:solidFill>
                  <a:srgbClr val="21292E"/>
                </a:solidFill>
                <a:latin typeface="Calibri"/>
              </a:rPr>
              <a:t>3台 OK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886200"/>
            <a:ext cx="49834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50" b="0">
                <a:solidFill>
                  <a:srgbClr val="6B7A85"/>
                </a:solidFill>
                <a:latin typeface="Calibri"/>
              </a:rPr>
              <a:t>kill 走 RST（cost=18ms）；SIGSTOP 靠心跳超时检测（cost=603ms），量级相同。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709160"/>
            <a:ext cx="36576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709160"/>
            <a:ext cx="3657600" cy="1097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94690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065A82"/>
                </a:solidFill>
                <a:latin typeface="Calibri"/>
              </a:rPr>
              <a:t>选举快且统一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42239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1292E"/>
                </a:solidFill>
                <a:latin typeface="Calibri"/>
              </a:rPr>
              <a:t>四次注入服务端均 7–9s 选出新 Leader 并向 3 台 NS 注册；与故障类型几乎无关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61688" y="4709160"/>
            <a:ext cx="36576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61688" y="4709160"/>
            <a:ext cx="3657600" cy="109728"/>
          </a:xfrm>
          <a:prstGeom prst="rect">
            <a:avLst/>
          </a:prstGeom>
          <a:solidFill>
            <a:srgbClr val="E88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90288" y="494690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E88A1A"/>
                </a:solidFill>
                <a:latin typeface="Calibri"/>
              </a:rPr>
              <a:t>瓶颈在客户端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90288" y="542239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1292E"/>
                </a:solidFill>
                <a:latin typeface="Calibri"/>
              </a:rPr>
              <a:t>kill 客户端恢复≈选举时间；SIGSTOP 服务端≈9s 完成、客户端却拖到 12–37s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0456" y="4709160"/>
            <a:ext cx="3657600" cy="16916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20456" y="4709160"/>
            <a:ext cx="3657600" cy="109728"/>
          </a:xfrm>
          <a:prstGeom prst="rect">
            <a:avLst/>
          </a:prstGeom>
          <a:solidFill>
            <a:srgbClr val="1B9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49056" y="494690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B9E77"/>
                </a:solidFill>
                <a:latin typeface="Calibri"/>
              </a:rPr>
              <a:t>无脑裂 · NS 不拖后腿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49056" y="5422392"/>
            <a:ext cx="3200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150" b="0">
                <a:solidFill>
                  <a:srgbClr val="21292E"/>
                </a:solidFill>
                <a:latin typeface="Calibri"/>
              </a:rPr>
              <a:t>term 单调+1，落败副本转 Follower；新 Leader 同一秒完成 register broker[0]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