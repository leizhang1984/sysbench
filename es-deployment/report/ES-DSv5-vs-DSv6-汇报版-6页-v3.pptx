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Elasticsearch DSv5 vs DSv6
性能与故障转移汇报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2200">
                <a:solidFill>
                  <a:srgbClr val="EBF0FA"/>
                </a:solidFill>
              </a:defRPr>
            </a:pPr>
            <a:r>
              <a:t>测试范围：esrally geonames 并行压测 + DSv6 自动故障转移验证</a:t>
            </a:r>
          </a:p>
          <a:p>
            <a:pPr>
              <a:lnSpc>
                <a:spcPct val="115000"/>
              </a:lnSpc>
              <a:defRPr sz="2200">
                <a:solidFill>
                  <a:srgbClr val="EBF0FA"/>
                </a:solidFill>
              </a:defRPr>
            </a:pPr>
            <a:r>
              <a:t>环境：Azure germanywestcentral，ES 6.8.1，3 节点集群（master+data）</a:t>
            </a:r>
          </a:p>
          <a:p>
            <a:pPr>
              <a:lnSpc>
                <a:spcPct val="115000"/>
              </a:lnSpc>
              <a:defRPr sz="2200">
                <a:solidFill>
                  <a:srgbClr val="EBF0FA"/>
                </a:solidFill>
              </a:defRPr>
            </a:pPr>
            <a:r>
              <a:t>结论摘要：DSv6 在相同吞吐下显著降低延迟，且具备自动故障转移能力</a:t>
            </a:r>
          </a:p>
          <a:p>
            <a:pPr>
              <a:lnSpc>
                <a:spcPct val="115000"/>
              </a:lnSpc>
              <a:defRPr sz="2200">
                <a:solidFill>
                  <a:srgbClr val="EBF0FA"/>
                </a:solidFill>
              </a:defRPr>
            </a:pPr>
            <a:r>
              <a:t>报告来源：es-dsv5-vs-dsv6-report.md（2026-06-17）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3454"/>
                </a:solidFill>
              </a:rPr>
              <a:t>测试部署架构（并行压测，互不干扰）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2846"/>
                </a:solidFill>
              </a:rPr>
              <a:t>压测结果：DSv6 在相同吞吐下延迟全面更优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48920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4805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关键数字（服务时间）：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p50 平均改善约 9%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p90 平均改善约 17%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p99 平均改善约 25%~30%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default 查询 p99 改善 51.4%（20.28ms -&gt; 9.86ms）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endParaRPr/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索引路径：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累计索引耗时 -1.9%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累计 merge 耗时 -8.8%</a:t>
            </a:r>
          </a:p>
          <a:p>
            <a:pPr>
              <a:lnSpc>
                <a:spcPct val="115000"/>
              </a:lnSpc>
              <a:defRPr sz="1700">
                <a:solidFill>
                  <a:srgbClr val="282D37"/>
                </a:solidFill>
              </a:defRPr>
            </a:pPr>
            <a:r>
              <a:t>• 查询吞吐两端一致（固定目标吞吐模型）</a:t>
            </a:r>
          </a:p>
        </p:txBody>
      </p:sp>
      <p:pic>
        <p:nvPicPr>
          <p:cNvPr id="5" name="Picture 4" descr="improvement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25880"/>
            <a:ext cx="5806440" cy="2103120"/>
          </a:xfrm>
          <a:prstGeom prst="rect">
            <a:avLst/>
          </a:prstGeom>
        </p:spPr>
      </p:pic>
      <p:pic>
        <p:nvPicPr>
          <p:cNvPr id="6" name="Picture 5" descr="improvement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611880"/>
            <a:ext cx="580644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571500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图：上-相对改善率；下-DSv5/DSv6 p99 绝对值基线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3458"/>
                </a:solidFill>
              </a:rPr>
              <a:t>故障转移架构：故障前后业务连续性与数据持久化</a:t>
            </a:r>
          </a:p>
        </p:txBody>
      </p:sp>
      <p:pic>
        <p:nvPicPr>
          <p:cNvPr id="3" name="Picture 2" descr="failover_architectur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1138428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E28"/>
                </a:solidFill>
              </a:rPr>
              <a:t>故障转移验证：支持自动升主，灰色故障检测较慢</a:t>
            </a:r>
          </a:p>
        </p:txBody>
      </p:sp>
      <p:pic>
        <p:nvPicPr>
          <p:cNvPr id="3" name="Picture 2" descr="failove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04088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09560" y="1188720"/>
            <a:ext cx="3611880" cy="4846320"/>
          </a:xfrm>
          <a:prstGeom prst="roundRect">
            <a:avLst/>
          </a:prstGeom>
          <a:solidFill>
            <a:srgbClr val="EDF7F5"/>
          </a:solidFill>
          <a:ln>
            <a:solidFill>
              <a:srgbClr val="B9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146304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场景 A（kill -9）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~1s 转 yellow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+13s 恢复 green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失败为 RST 快速失败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endParaRPr/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场景 B（SIGSTOP）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~93s 后才转 yellow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+105s 恢复 green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失败为 2s 超时挂起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endParaRPr/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共同结论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自动故障转移成功</a:t>
            </a:r>
          </a:p>
          <a:p>
            <a:pPr>
              <a:lnSpc>
                <a:spcPct val="115000"/>
              </a:lnSpc>
              <a:defRPr sz="1600">
                <a:solidFill>
                  <a:srgbClr val="1C3730"/>
                </a:solidFill>
              </a:defRPr>
            </a:pPr>
            <a:r>
              <a:t>• 两场景均零数据丢失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37240F"/>
                </a:solidFill>
              </a:rPr>
              <a:t>风险与落地建议（可直接执行）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394960" cy="5120640"/>
          </a:xfrm>
          <a:prstGeom prst="roundRect">
            <a:avLst/>
          </a:prstGeom>
          <a:solidFill>
            <a:srgbClr val="FFF7EE"/>
          </a:solidFill>
          <a:ln>
            <a:solidFill>
              <a:srgbClr val="EB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55080" y="1234440"/>
            <a:ext cx="5120640" cy="5120640"/>
          </a:xfrm>
          <a:prstGeom prst="roundRect">
            <a:avLst/>
          </a:prstGeom>
          <a:solidFill>
            <a:srgbClr val="F1F8FF"/>
          </a:solidFill>
          <a:ln>
            <a:solidFill>
              <a:srgbClr val="C2D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关键风险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1) 灰色故障（无 RST）检测窗口过长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2) 故障转移前客户端易发生超时阻塞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3) 故障转移能力依赖索引副本配置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endParaRPr/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当前验证状态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• DSv6：自动故障转移已验证</a:t>
            </a:r>
          </a:p>
          <a:p>
            <a:pPr>
              <a:lnSpc>
                <a:spcPct val="115000"/>
              </a:lnSpc>
              <a:defRPr sz="1700">
                <a:solidFill>
                  <a:srgbClr val="5A3E1A"/>
                </a:solidFill>
              </a:defRPr>
            </a:pPr>
            <a:r>
              <a:t>• failover-test：测试完成并已清理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600200"/>
            <a:ext cx="46634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建议行动（优先级从高到低）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1) 生产关键索引设 replicas &gt;= 1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2) 调优 discovery.zen.fd 参数缩短检测窗口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3) 客户端启用拓扑感知 + 快速剔除坏节点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4) 增加节点健康探测与自动告警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endParaRPr/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预期收益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• 降低故障恢复时间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• 降低超时对业务的可见影响</a:t>
            </a:r>
          </a:p>
          <a:p>
            <a:pPr>
              <a:lnSpc>
                <a:spcPct val="115000"/>
              </a:lnSpc>
              <a:defRPr sz="1700">
                <a:solidFill>
                  <a:srgbClr val="1E385A"/>
                </a:solidFill>
              </a:defRPr>
            </a:pPr>
            <a:r>
              <a:t>• 稳定提升尾延迟与可用性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E88"/>
                </a:solidFill>
              </a:defRPr>
            </a:pPr>
            <a:r>
              <a:t>Source: es-dsv5-vs-dsv6-report.md | Slide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278</Words>
  <Application>Microsoft Office PowerPoint</Application>
  <PresentationFormat>宽屏</PresentationFormat>
  <Paragraphs>58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Lei Zhang (AZURE ARCHITECT)</cp:lastModifiedBy>
  <cp:revision>2</cp:revision>
  <dcterms:created xsi:type="dcterms:W3CDTF">2013-01-27T09:14:16Z</dcterms:created>
  <dcterms:modified xsi:type="dcterms:W3CDTF">2026-06-22T11:51:56Z</dcterms:modified>
  <cp:category/>
</cp:coreProperties>
</file>