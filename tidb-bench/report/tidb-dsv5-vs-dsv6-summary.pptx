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TiDB DSv5 vs DSv6 压测复盘汇报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C0D5FF"/>
                </a:solidFill>
                <a:latin typeface="Microsoft YaHei"/>
              </a:rPr>
              <a:t>同资源规格集群对比：吞吐、延迟与系统资源利用 |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CF2FF"/>
                </a:solidFill>
                <a:latin typeface="Microsoft YaHei"/>
              </a:defRPr>
            </a:pPr>
            <a:r>
              <a:t>测试结论：DSv6 在全部场景性能领先，适合作为推荐机型</a:t>
            </a:r>
          </a:p>
          <a:p>
            <a:pPr>
              <a:spcAft>
                <a:spcPts val="600"/>
              </a:spcAft>
              <a:defRPr sz="2400">
                <a:solidFill>
                  <a:srgbClr val="ECF2FF"/>
                </a:solidFill>
                <a:latin typeface="Microsoft YaHei"/>
              </a:defRPr>
            </a:pPr>
            <a:r>
              <a:t>核心收益：QPS 平均 +9.9%，延迟平均下降 7%~11%</a:t>
            </a:r>
          </a:p>
          <a:p>
            <a:pPr>
              <a:spcAft>
                <a:spcPts val="600"/>
              </a:spcAft>
              <a:defRPr sz="2400">
                <a:solidFill>
                  <a:srgbClr val="ECF2FF"/>
                </a:solidFill>
                <a:latin typeface="Microsoft YaHei"/>
              </a:defRPr>
            </a:pPr>
            <a:r>
              <a:t>重点发现：中高并发（100/200）下优势更明显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2011680" cy="411480"/>
          </a:xfrm>
          <a:prstGeom prst="rect">
            <a:avLst/>
          </a:prstGeom>
          <a:solidFill>
            <a:srgbClr val="17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汇报摘要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E6E"/>
                </a:solidFill>
                <a:latin typeface="Calibri"/>
              </a:defRPr>
            </a:pPr>
            <a:r>
              <a:t>数据来源：tidb-bench/report/tidb-dsv5-vs-dsv6-report.md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234B"/>
                </a:solidFill>
                <a:latin typeface="Microsoft YaHei"/>
              </a:rPr>
              <a:t>部署架构图：两套独立集群并行对照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440680" cy="4892040"/>
          </a:xfrm>
          <a:prstGeom prst="roundRect">
            <a:avLst/>
          </a:prstGeom>
          <a:solidFill>
            <a:srgbClr val="E5EEFF"/>
          </a:solidFill>
          <a:ln>
            <a:solidFill>
              <a:srgbClr val="63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3565"/>
                </a:solidFill>
                <a:latin typeface="Microsoft YaHei"/>
              </a:defRPr>
            </a:pPr>
            <a:r>
              <a:t>集群 A：DSv5 (Standard_D8s_v5)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417320" cy="914400"/>
          </a:xfrm>
          <a:prstGeom prst="roundRect">
            <a:avLst/>
          </a:prstGeom>
          <a:solidFill>
            <a:srgbClr val="426DB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客户端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clientvm01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D32s_v6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828800"/>
            <a:ext cx="1737360" cy="914400"/>
          </a:xfrm>
          <a:prstGeom prst="roundRect">
            <a:avLst/>
          </a:prstGeom>
          <a:solidFill>
            <a:srgbClr val="426DB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LB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10.142.0.10:4000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1234440" cy="1280160"/>
          </a:xfrm>
          <a:prstGeom prst="roundRect">
            <a:avLst/>
          </a:prstGeom>
          <a:solidFill>
            <a:srgbClr val="426DB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TiDB + PD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3 节点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10.142.0.11/12/13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00400"/>
            <a:ext cx="1234440" cy="1554480"/>
          </a:xfrm>
          <a:prstGeom prst="roundRect">
            <a:avLst/>
          </a:prstGeom>
          <a:solidFill>
            <a:srgbClr val="4C7CCE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TiKV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3 节点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10.142.0.21/22/23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AZ1/AZ2/AZ3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2148840"/>
            <a:ext cx="274320" cy="219456"/>
          </a:xfrm>
          <a:prstGeom prst="rightArrow">
            <a:avLst/>
          </a:prstGeom>
          <a:solidFill>
            <a:srgbClr val="3A5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343400" y="2148840"/>
            <a:ext cx="228600" cy="219456"/>
          </a:xfrm>
          <a:prstGeom prst="rightArrow">
            <a:avLst/>
          </a:prstGeom>
          <a:solidFill>
            <a:srgbClr val="3A5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440680" cy="4892040"/>
          </a:xfrm>
          <a:prstGeom prst="roundRect">
            <a:avLst/>
          </a:prstGeom>
          <a:solidFill>
            <a:srgbClr val="E5F6EC"/>
          </a:solidFill>
          <a:ln>
            <a:solidFill>
              <a:srgbClr val="4A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5131"/>
                </a:solidFill>
                <a:latin typeface="Microsoft YaHei"/>
              </a:defRPr>
            </a:pPr>
            <a:r>
              <a:t>集群 B：DSv6 (Standard_D8s_v6)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1417320" cy="914400"/>
          </a:xfrm>
          <a:prstGeom prst="roundRect">
            <a:avLst/>
          </a:prstGeom>
          <a:solidFill>
            <a:srgbClr val="2C855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客户端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clientvm02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D32s_v6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1737360" cy="914400"/>
          </a:xfrm>
          <a:prstGeom prst="roundRect">
            <a:avLst/>
          </a:prstGeom>
          <a:solidFill>
            <a:srgbClr val="2C855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LB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10.142.0.30:4000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1645920"/>
            <a:ext cx="1234440" cy="1280160"/>
          </a:xfrm>
          <a:prstGeom prst="roundRect">
            <a:avLst/>
          </a:prstGeom>
          <a:solidFill>
            <a:srgbClr val="2C8558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TiDB + PD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3 节点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10.142.0.31/32/33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3200400"/>
            <a:ext cx="1234440" cy="1554480"/>
          </a:xfrm>
          <a:prstGeom prst="roundRect">
            <a:avLst/>
          </a:prstGeom>
          <a:solidFill>
            <a:srgbClr val="399863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TiKV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3 节点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10.142.0.41/42/43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AZ1/AZ2/AZ3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2148840"/>
            <a:ext cx="274320" cy="219456"/>
          </a:xfrm>
          <a:prstGeom prst="rightArrow">
            <a:avLst/>
          </a:prstGeom>
          <a:solidFill>
            <a:srgbClr val="429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921240" y="2148840"/>
            <a:ext cx="228600" cy="219456"/>
          </a:xfrm>
          <a:prstGeom prst="rightArrow">
            <a:avLst/>
          </a:prstGeom>
          <a:solidFill>
            <a:srgbClr val="429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2011680" cy="347472"/>
          </a:xfrm>
          <a:prstGeom prst="rect">
            <a:avLst/>
          </a:prstGeom>
          <a:solidFill>
            <a:srgbClr val="17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配置差异说明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DSv5（集群A）：VM=Standard_D8s_v5；OS=CentOS 7.9</a:t>
            </a:r>
          </a:p>
          <a:p>
            <a:pPr>
              <a:spcAft>
                <a:spcPts val="600"/>
              </a:spcAft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DSv6（集群B）：VM=Standard_D8s_v6；OS=Rocky Linux 9.8</a:t>
            </a:r>
          </a:p>
          <a:p>
            <a:pPr>
              <a:spcAft>
                <a:spcPts val="600"/>
              </a:spcAft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共同项：TiDB v8.5.6、节点拓扑(3xTiDB+PD + 3xTiKV)、磁盘规格一致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E6E"/>
                </a:solidFill>
                <a:latin typeface="Calibri"/>
              </a:defRPr>
            </a:pPr>
            <a:r>
              <a:t>左：DSv5 + CentOS 7.9 | 右：DSv6 + Rocky Linux 9.8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234B"/>
                </a:solidFill>
                <a:latin typeface="Microsoft YaHei"/>
              </a:rPr>
              <a:t>核心性能结果：DSv6 全面领先</a:t>
            </a:r>
          </a:p>
        </p:txBody>
      </p:sp>
      <p:pic>
        <p:nvPicPr>
          <p:cNvPr id="3" name="Picture 2" descr="qp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228745" cy="3931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0" y="1188720"/>
            <a:ext cx="4114800" cy="411480"/>
          </a:xfrm>
          <a:prstGeom prst="rect">
            <a:avLst/>
          </a:prstGeom>
          <a:solidFill>
            <a:srgbClr val="17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7373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QPS 提升范围：+7.6% ~ +12.7%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QPS 平均提升：+9.9%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平均延迟下降：7% ~ 11%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最显著点：100 并发（RO +11.04%，RW +12.71%）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200 并发峰值：RO 71817 QPS，RW 63565 QPS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E6E"/>
                </a:solidFill>
                <a:latin typeface="Calibri"/>
              </a:defRPr>
            </a:pPr>
            <a:r>
              <a:t>图表：report/images/qps_summary.png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234B"/>
                </a:solidFill>
                <a:latin typeface="Microsoft YaHei"/>
              </a:rPr>
              <a:t>系统指标侧验证：性能提升来源</a:t>
            </a:r>
          </a:p>
        </p:txBody>
      </p:sp>
      <p:pic>
        <p:nvPicPr>
          <p:cNvPr id="3" name="Picture 2" descr="ro_ti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577840" cy="3663644"/>
          </a:xfrm>
          <a:prstGeom prst="rect">
            <a:avLst/>
          </a:prstGeom>
        </p:spPr>
      </p:pic>
      <p:pic>
        <p:nvPicPr>
          <p:cNvPr id="4" name="Picture 3" descr="rw_ti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577840" cy="3663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同并发下 DSv6 的 TiDB CPU 利用率更高，说明单位时间处理了更多请求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软中断占比多数场景更低，网络/中断处理开销更小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高并发时 TiDB 接近饱和、TiKV 仍有余量 -&gt; 瓶颈主要在 SQL 计算层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E6E"/>
                </a:solidFill>
                <a:latin typeface="Calibri"/>
              </a:defRPr>
            </a:pPr>
            <a:r>
              <a:t>图表：report/images/ro_tidb.png, report/images/rw_tidb.png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011680" cy="411480"/>
          </a:xfrm>
          <a:prstGeom prst="rect">
            <a:avLst/>
          </a:prstGeom>
          <a:solidFill>
            <a:srgbClr val="17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BF1FF"/>
                </a:solidFill>
                <a:latin typeface="Microsoft YaHei"/>
              </a:defRPr>
            </a:pPr>
            <a:r>
              <a:t>在 12 个测试场景中，DSv6 全部优于 DSv5（吞吐更高、延迟更低）</a:t>
            </a:r>
          </a:p>
          <a:p>
            <a:pPr>
              <a:spcAft>
                <a:spcPts val="600"/>
              </a:spcAft>
              <a:defRPr sz="2000">
                <a:solidFill>
                  <a:srgbClr val="EBF1FF"/>
                </a:solidFill>
                <a:latin typeface="Microsoft YaHei"/>
              </a:defRPr>
            </a:pPr>
            <a:r>
              <a:t>收益稳定且在中高并发更突出，适合作为默认升级方向</a:t>
            </a:r>
          </a:p>
          <a:p>
            <a:pPr>
              <a:spcAft>
                <a:spcPts val="600"/>
              </a:spcAft>
              <a:defRPr sz="2000">
                <a:solidFill>
                  <a:srgbClr val="EBF1FF"/>
                </a:solidFill>
                <a:latin typeface="Microsoft YaHei"/>
              </a:defRPr>
            </a:pPr>
            <a:r>
              <a:t>对当前 OLTP 负载，计算实例升级可直接换取业务性能收益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2011680" cy="411480"/>
          </a:xfrm>
          <a:prstGeom prst="rect">
            <a:avLst/>
          </a:prstGeom>
          <a:solidFill>
            <a:srgbClr val="17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落地建议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348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BF1FF"/>
                </a:solidFill>
                <a:latin typeface="Microsoft YaHei"/>
              </a:defRPr>
            </a:pPr>
            <a:r>
              <a:t>生产集群优先采用 DSv6 系列并开展分批替换</a:t>
            </a:r>
          </a:p>
          <a:p>
            <a:pPr>
              <a:spcAft>
                <a:spcPts val="600"/>
              </a:spcAft>
              <a:defRPr sz="1800">
                <a:solidFill>
                  <a:srgbClr val="EBF1FF"/>
                </a:solidFill>
                <a:latin typeface="Microsoft YaHei"/>
              </a:defRPr>
            </a:pPr>
            <a:r>
              <a:t>针对 TiDB 层瓶颈，持续优化 SQL 与连接池参数</a:t>
            </a:r>
          </a:p>
          <a:p>
            <a:pPr>
              <a:spcAft>
                <a:spcPts val="600"/>
              </a:spcAft>
              <a:defRPr sz="1800">
                <a:solidFill>
                  <a:srgbClr val="EBF1FF"/>
                </a:solidFill>
                <a:latin typeface="Microsoft YaHei"/>
              </a:defRPr>
            </a:pPr>
            <a:r>
              <a:t>补充长稳压（&gt;= 1h）与更高并发（300+）验证容量上限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E6E"/>
                </a:solidFill>
                <a:latin typeface="Calibri"/>
              </a:defRPr>
            </a:pPr>
            <a:r>
              <a:t>建议：以 DSv6 为标准规格进入后续容量与成本评估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