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场景A kill -9</c:v>
                </c:pt>
              </c:strCache>
            </c:strRef>
          </c:tx>
          <c:spPr>
            <a:solidFill>
              <a:srgbClr val="E88A1A"/>
            </a:solidFill>
          </c:spPr>
          <c:cat>
            <c:strRef>
              <c:f>Sheet1!$A$2:$A$4</c:f>
              <c:strCache>
                <c:ptCount val="3"/>
                <c:pt idx="0">
                  <c:v>客户端中断(s)</c:v>
                </c:pt>
                <c:pt idx="1">
                  <c:v>FAIL判定(s)</c:v>
                </c:pt>
                <c:pt idx="2">
                  <c:v>选举耗时(s)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18.6</c:v>
                </c:pt>
                <c:pt idx="1">
                  <c:v>17.2</c:v>
                </c:pt>
                <c:pt idx="2">
                  <c:v>1.02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场景B SIGSTOP</c:v>
                </c:pt>
              </c:strCache>
            </c:strRef>
          </c:tx>
          <c:spPr>
            <a:solidFill>
              <a:srgbClr val="065A82"/>
            </a:solidFill>
          </c:spPr>
          <c:cat>
            <c:strRef>
              <c:f>Sheet1!$A$2:$A$4</c:f>
              <c:strCache>
                <c:ptCount val="3"/>
                <c:pt idx="0">
                  <c:v>客户端中断(s)</c:v>
                </c:pt>
                <c:pt idx="1">
                  <c:v>FAIL判定(s)</c:v>
                </c:pt>
                <c:pt idx="2">
                  <c:v>选举耗时(s)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23.0</c:v>
                </c:pt>
                <c:pt idx="1">
                  <c:v>22.5</c:v>
                </c:pt>
                <c:pt idx="2">
                  <c:v>0.64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客户端写入中断(s)</c:v>
                </c:pt>
              </c:strCache>
            </c:strRef>
          </c:tx>
          <c:spPr>
            <a:solidFill>
              <a:srgbClr val="065A82"/>
            </a:solidFill>
          </c:spPr>
          <c:cat>
            <c:strRef>
              <c:f>Sheet1!$A$2:$A$4</c:f>
              <c:strCache>
                <c:ptCount val="3"/>
                <c:pt idx="0">
                  <c:v>15000ms
基线</c:v>
                </c:pt>
                <c:pt idx="1">
                  <c:v>5000ms
推荐</c:v>
                </c:pt>
                <c:pt idx="2">
                  <c:v>3000ms
激进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20.7</c:v>
                </c:pt>
                <c:pt idx="1">
                  <c:v>8.8</c:v>
                </c:pt>
                <c:pt idx="2">
                  <c:v>4.8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E8F1F5"/>
                </a:solidFill>
                <a:latin typeface="Calibri"/>
              </a:rPr>
              <a:t>集群故障转移测试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Redis 6.2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Cluster 故障转移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实测分析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3291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1">
                <a:solidFill>
                  <a:srgbClr val="9FC6D8"/>
                </a:solidFill>
                <a:latin typeface="Calibri"/>
              </a:rPr>
              <a:t>测试方法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3 主 3 从集群，16384 槽全覆盖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主从强制跨 3 个可用区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JedisCluster 探针持续读写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注入两类故障：kill -9 / SIGSTOP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全程逐秒采集 + 写后回读校验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8FA9B8"/>
                </a:solidFill>
                <a:latin typeface="Calibri"/>
              </a:rPr>
              <a:t>Redis 6.2.14 · node-timeout=15s · appendfsync everysec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502920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核心数据：两类故障均自动转移、零数据丢失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188720"/>
            <a:ext cx="7178040" cy="841248"/>
          </a:xfrm>
          <a:prstGeom prst="roundRect">
            <a:avLst/>
          </a:prstGeom>
          <a:solidFill>
            <a:srgbClr val="0E3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298448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7FD4F0"/>
                </a:solidFill>
                <a:latin typeface="Calibri"/>
              </a:rPr>
              <a:t>基线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8C9D4"/>
                </a:solidFill>
                <a:latin typeface="Calibri"/>
              </a:rPr>
              <a:t>无故障稳态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1371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2,431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B8C9D4"/>
                </a:solidFill>
                <a:latin typeface="Calibri"/>
              </a:rPr>
              <a:t>QPS 吞吐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1280160"/>
            <a:ext cx="1371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0.86ms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B8C9D4"/>
                </a:solidFill>
                <a:latin typeface="Calibri"/>
              </a:rPr>
              <a:t>P50 延迟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1704" y="1280160"/>
            <a:ext cx="1371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2.60ms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B8C9D4"/>
                </a:solidFill>
                <a:latin typeface="Calibri"/>
              </a:rPr>
              <a:t>P99 延迟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5016" y="1280160"/>
            <a:ext cx="1371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B8C9D4"/>
                </a:solidFill>
                <a:latin typeface="Calibri"/>
              </a:rPr>
              <a:t>失败/丢失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240280"/>
            <a:ext cx="3493008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2240280"/>
            <a:ext cx="109728" cy="1874519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386584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88A1A"/>
                </a:solidFill>
                <a:latin typeface="Calibri"/>
              </a:rPr>
              <a:t>场景 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1292E"/>
                </a:solidFill>
                <a:latin typeface="Calibri"/>
              </a:rPr>
              <a:t>kill -9 主进程（崩溃，回 RST）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06324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000" b="1">
                <a:solidFill>
                  <a:srgbClr val="E88A1A"/>
                </a:solidFill>
                <a:latin typeface="Calibri"/>
              </a:rPr>
              <a:t>≈18.6s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客户端中断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8152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1292E"/>
                </a:solidFill>
                <a:latin typeface="Calibri"/>
              </a:rPr>
              <a:t>+17.2s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B7A85"/>
                </a:solidFill>
                <a:latin typeface="Calibri"/>
              </a:rPr>
              <a:t>FAIL 判定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292E"/>
                </a:solidFill>
                <a:latin typeface="Calibri"/>
              </a:rPr>
              <a:t>全量重同步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2240280"/>
            <a:ext cx="3493008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11312" y="2240280"/>
            <a:ext cx="109728" cy="1874519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386584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场景 B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1292E"/>
                </a:solidFill>
                <a:latin typeface="Calibri"/>
              </a:rPr>
              <a:t>SIGSTOP 冻结主（静默，无 RST）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06324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000" b="1">
                <a:solidFill>
                  <a:srgbClr val="065A82"/>
                </a:solidFill>
                <a:latin typeface="Calibri"/>
              </a:rPr>
              <a:t>≈23s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客户端中断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308152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21292E"/>
                </a:solidFill>
                <a:latin typeface="Calibri"/>
              </a:rPr>
              <a:t>+22.5s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B7A85"/>
                </a:solidFill>
                <a:latin typeface="Calibri"/>
              </a:rPr>
              <a:t>FAIL 判定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1292E"/>
                </a:solidFill>
                <a:latin typeface="Calibri"/>
              </a:rPr>
              <a:t>部分重同步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315968"/>
            <a:ext cx="7178040" cy="1993392"/>
          </a:xfrm>
          <a:prstGeom prst="roundRect">
            <a:avLst/>
          </a:prstGeom>
          <a:solidFill>
            <a:srgbClr val="0E3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44805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7FD4F0"/>
                </a:solidFill>
                <a:latin typeface="Calibri"/>
              </a:rPr>
              <a:t>关键洞察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846320"/>
            <a:ext cx="6720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中断窗口 ≈ cluster-node-timeout（15s）+ 选举(~1s) + 客户端刷新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静默故障（无 RST）比进程崩溃更慢、更“黏”：连续 22s 吞吐绝对归零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单分片故障会拖垮整个客户端吞吐（线程被重试榨干）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E8F1F5"/>
                </a:solidFill>
                <a:latin typeface="Calibri"/>
              </a:rPr>
              <a:t>• 写后回读校验：335,870 次成功写，零丢失（前提：复制已追平）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部署架构：3 主 3 从，主从强制跨可用区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3EC"/>
                </a:solidFill>
                <a:latin typeface="Calibri"/>
              </a:rPr>
              <a:t>Azure westus3 · 6×D8s_v6 · 每分片主与副本分属不同 AZ，每 AZ 各承载 1 主 + 1 从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520440" cy="2788920"/>
          </a:xfrm>
          <a:prstGeom prst="rect">
            <a:avLst/>
          </a:prstGeom>
          <a:solidFill>
            <a:srgbClr val="DDECF7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352044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72184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AZ-1（可用区）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30552"/>
            <a:ext cx="2697480" cy="749808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2697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主 7001</a:t>
            </a:r>
          </a:p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Master · 可写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108960"/>
            <a:ext cx="2697480" cy="74980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2697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 从 7004</a:t>
            </a:r>
          </a:p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Replica · 只读副本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6552" y="1417320"/>
            <a:ext cx="3520440" cy="2788920"/>
          </a:xfrm>
          <a:prstGeom prst="rect">
            <a:avLst/>
          </a:prstGeom>
          <a:solidFill>
            <a:srgbClr val="D5F0E4"/>
          </a:solidFill>
          <a:ln w="12700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417320"/>
            <a:ext cx="3520440" cy="45720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472184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AZ-2（可用区）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8032" y="2130552"/>
            <a:ext cx="2697480" cy="749808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2130552"/>
            <a:ext cx="2697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 主 7002</a:t>
            </a:r>
          </a:p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Master · 可写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3108960"/>
            <a:ext cx="2697480" cy="74980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3108960"/>
            <a:ext cx="2697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从 7005</a:t>
            </a:r>
          </a:p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Replica · 只读副本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1417320"/>
            <a:ext cx="3520440" cy="2788920"/>
          </a:xfrm>
          <a:prstGeom prst="rect">
            <a:avLst/>
          </a:prstGeom>
          <a:solidFill>
            <a:srgbClr val="ECE2F5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3" y="1417320"/>
            <a:ext cx="352044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3" y="1472184"/>
            <a:ext cx="3154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AZ-3（可用区）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04503" y="2130552"/>
            <a:ext cx="2697480" cy="749808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3" y="2130552"/>
            <a:ext cx="2697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 主 7003</a:t>
            </a:r>
          </a:p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Master · 可写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04503" y="3108960"/>
            <a:ext cx="2697480" cy="74980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503" y="3108960"/>
            <a:ext cx="2697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 从 7006</a:t>
            </a:r>
          </a:p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Replica · 只读副本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异步复制（跨 AZ）：</a:t>
            </a:r>
            <a:r>
              <a:rPr sz="1300" b="1">
                <a:solidFill>
                  <a:srgbClr val="065A82"/>
                </a:solidFill>
                <a:latin typeface="Calibri"/>
              </a:rPr>
              <a:t>A 主(AZ1) → A 从(AZ2)　B 主(AZ2) → B 从(AZ3)　C 主(AZ3) → C 从(AZ1)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37760"/>
            <a:ext cx="3520440" cy="1417320"/>
          </a:xfrm>
          <a:prstGeom prst="round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352044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389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C7293"/>
                </a:solidFill>
                <a:latin typeface="Calibri"/>
              </a:rPr>
              <a:t>16384 槽全覆盖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4126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3 分片均分，cluster-require-full-coverage=no：单分片转移期间其余分片继续服务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6552" y="4937760"/>
            <a:ext cx="3520440" cy="1417320"/>
          </a:xfrm>
          <a:prstGeom prst="round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16552" y="4937760"/>
            <a:ext cx="3520440" cy="9144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51389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E88A1A"/>
                </a:solidFill>
                <a:latin typeface="Calibri"/>
              </a:rPr>
              <a:t>Gossip 故障判定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554126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节点经集群总线交换 PING/PONG，PFAIL→FAIL 需多数主确认；node-timeout=15s 决定灵敏度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3" y="4937760"/>
            <a:ext cx="3520440" cy="1417320"/>
          </a:xfrm>
          <a:prstGeom prst="round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93023" y="4937760"/>
            <a:ext cx="3520440" cy="9144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4" y="51389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B9E77"/>
                </a:solidFill>
                <a:latin typeface="Calibri"/>
              </a:rPr>
              <a:t>AZ 级容灾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554126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任一 AZ 整体故障，每个分片仍有跨 AZ 存活副本可自动升主，保住已复制数据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两类故障端到端对比：进程崩溃 vs 整机静默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3EC"/>
                </a:solidFill>
                <a:latin typeface="Calibri"/>
              </a:rPr>
              <a:t>同一集群、同一探针，唯一变量是故障类型；检测窗口（≈node-timeout）主导中断时长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55778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7A85"/>
                </a:solidFill>
                <a:latin typeface="Calibri"/>
              </a:rPr>
              <a:t>选举本身仅 ~1s；中断时长主要被 15s 检测窗口决定。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349240" cy="3108960"/>
          </a:xfrm>
          <a:prstGeom prst="round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65A82"/>
                </a:solidFill>
                <a:latin typeface="Calibri"/>
              </a:rPr>
              <a:t>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65A82"/>
                </a:solidFill>
                <a:latin typeface="Calibri"/>
              </a:rPr>
              <a:t>场景A kill -9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41732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65A82"/>
                </a:solidFill>
                <a:latin typeface="Calibri"/>
              </a:rPr>
              <a:t>场景B SIGSTOP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746504"/>
            <a:ext cx="4983479" cy="18288"/>
          </a:xfrm>
          <a:prstGeom prst="rect">
            <a:avLst/>
          </a:prstGeom>
          <a:solidFill>
            <a:srgbClr val="C4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42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副本 TCP 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2422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8A1A"/>
                </a:solidFill>
                <a:latin typeface="Calibri"/>
              </a:rPr>
              <a:t>6ms（收到 RST）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8242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无即时感知（靠超时）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3113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集群标记 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31136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8A1A"/>
                </a:solidFill>
                <a:latin typeface="Calibri"/>
              </a:rPr>
              <a:t>+17.2s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23113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+22.5s（更黏）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3804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客户端净不可用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38044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8A1A"/>
                </a:solidFill>
                <a:latin typeface="Calibri"/>
              </a:rPr>
              <a:t>≈18.6s（有涓流）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63804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≈23s（绝对 0）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4495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恢复瞬间 Max 延迟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44951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8A1A"/>
                </a:solidFill>
                <a:latin typeface="Calibri"/>
              </a:rPr>
              <a:t>4175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3044951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2354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5185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旧节点回归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451859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8A1A"/>
                </a:solidFill>
                <a:latin typeface="Calibri"/>
              </a:rPr>
              <a:t>全量重同步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451859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部分重同步(~2.5MB)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587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数据丢失 (RPO)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5876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8A1A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385876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065A82"/>
                </a:solidFill>
                <a:latin typeface="Calibri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83480"/>
            <a:ext cx="3703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83480"/>
            <a:ext cx="91440" cy="1371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66360"/>
            <a:ext cx="3291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65A82"/>
                </a:solidFill>
                <a:latin typeface="Calibri"/>
              </a:rPr>
              <a:t>静默故障更致命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68696"/>
            <a:ext cx="3291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无 RST 时请求石沉大海，线程挂满超时，吞吐连续 22s 绝对归零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53128" y="4983480"/>
            <a:ext cx="3703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53128" y="4983480"/>
            <a:ext cx="91440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5166360"/>
            <a:ext cx="3291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6A4C93"/>
                </a:solidFill>
                <a:latin typeface="Calibri"/>
              </a:rPr>
              <a:t>防脑裂靠 configEpoch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5568696"/>
            <a:ext cx="3291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单调纪元 + 多数派授权，保证同槽同一时刻只有一个合法主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03336" y="4983480"/>
            <a:ext cx="3703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03336" y="4983480"/>
            <a:ext cx="91440" cy="137160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31936" y="5166360"/>
            <a:ext cx="3291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B9E77"/>
                </a:solidFill>
                <a:latin typeface="Calibri"/>
              </a:rPr>
              <a:t>自动恢复零干预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1936" y="5568696"/>
            <a:ext cx="3291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旧主重启/解冻后看到更高 epoch 自动降为副本回归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数据完整性与 RPO：零丢失是“有条件的”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3EC"/>
                </a:solidFill>
                <a:latin typeface="Calibri"/>
              </a:rPr>
              <a:t>Redis Cluster = 最终一致 + 异步复制；主对客户端 ACK 不等副本确认 → RPO 可能 &gt;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4937760"/>
          </a:xfrm>
          <a:prstGeom prst="round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已启用的完整性防线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9384"/>
            <a:ext cx="128016" cy="54864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AOF 持久化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appendonly + appendfsync everysec，崩溃重启可回放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128016" cy="54864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最优副本升主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选举携 master_repl_offset，偏移最大者优先，最小化丢失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128016" cy="54864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82696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复制积压缓冲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repl-backlog 100mb，解冻后部分重同步（实证）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41647"/>
            <a:ext cx="128016" cy="54864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configEpoch 仲裁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单调纪元 + 多数派，防脑裂写冲突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45735"/>
            <a:ext cx="128016" cy="54864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90871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跨 AZ 主从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单 AZ 故障分片仍存活，保住已复制数据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49823"/>
            <a:ext cx="128016" cy="54864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94959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拒绝陈旧写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旧主见更高 epoch 立即降副本，杜绝分叉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34440"/>
            <a:ext cx="5486400" cy="2697480"/>
          </a:xfrm>
          <a:prstGeom prst="roundRect">
            <a:avLst/>
          </a:prstGeom>
          <a:solidFill>
            <a:srgbClr val="FB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88A1A"/>
                </a:solidFill>
                <a:latin typeface="Calibri"/>
              </a:rPr>
              <a:t>可能丢数据的场景（须生产前评估）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87451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E88A1A"/>
                </a:solidFill>
                <a:latin typeface="Calibri"/>
              </a:rPr>
              <a:t>•  </a:t>
            </a:r>
            <a:r>
              <a:rPr sz="1150" b="0">
                <a:solidFill>
                  <a:srgbClr val="21292E"/>
                </a:solidFill>
                <a:latin typeface="Calibri"/>
              </a:rPr>
              <a:t>异步复制窗口：已 ACK 未复制的写随旧主丢失（最常见）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7743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E88A1A"/>
                </a:solidFill>
                <a:latin typeface="Calibri"/>
              </a:rPr>
              <a:t>•  </a:t>
            </a:r>
            <a:r>
              <a:rPr sz="1150" b="0">
                <a:solidFill>
                  <a:srgbClr val="21292E"/>
                </a:solidFill>
                <a:latin typeface="Calibri"/>
              </a:rPr>
              <a:t>AOF fsync 间隙：进程崩溃 + 整机断电丢最后 ~1s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E88A1A"/>
                </a:solidFill>
                <a:latin typeface="Calibri"/>
              </a:rPr>
              <a:t>•  </a:t>
            </a:r>
            <a:r>
              <a:rPr sz="1150" b="0">
                <a:solidFill>
                  <a:srgbClr val="21292E"/>
                </a:solidFill>
                <a:latin typeface="Calibri"/>
              </a:rPr>
              <a:t>双重故障：主与唯一副本同时失联，分片无法转移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38327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E88A1A"/>
                </a:solidFill>
                <a:latin typeface="Calibri"/>
              </a:rPr>
              <a:t>•  </a:t>
            </a:r>
            <a:r>
              <a:rPr sz="1150" b="0">
                <a:solidFill>
                  <a:srgbClr val="21292E"/>
                </a:solidFill>
                <a:latin typeface="Calibri"/>
              </a:rPr>
              <a:t>脑裂边缘 / full-resync 期间主再故障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5486400" cy="2057400"/>
          </a:xfrm>
          <a:prstGeom prst="round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793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A8E6CF"/>
                </a:solidFill>
                <a:latin typeface="Calibri"/>
              </a:rPr>
              <a:t>本测为何 0 丢失 + 如何做到“实质不丢”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• 写入适中、复制已追平（偏移两线重合），异步窗口≈0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• 写操作幂等 + 重试退避：覆盖检测窗口，超时即补回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• min-replicas-to-write / WAIT N：半同步收窄 RPO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E8F1F5"/>
                </a:solidFill>
                <a:latin typeface="Calibri"/>
              </a:rPr>
              <a:t>• 对账补偿兜底；务必按峰值写入复测 RPO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优化：缩短故障转移中断时间（A/B 实测）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FE3EC"/>
                </a:solidFill>
                <a:latin typeface="Calibri"/>
              </a:rPr>
              <a:t>唯一变量 = cluster-node-timeout；检测窗口最大且唯一可观调，是性价比最高的一项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8016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72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1292E"/>
                </a:solidFill>
                <a:latin typeface="Calibri"/>
              </a:rPr>
              <a:t>15000 → 5000ms：中断 </a:t>
            </a:r>
            <a:r>
              <a:rPr sz="1300" b="1">
                <a:solidFill>
                  <a:srgbClr val="1B9E77"/>
                </a:solidFill>
                <a:latin typeface="Calibri"/>
              </a:rPr>
              <a:t>降低 58%</a:t>
            </a:r>
            <a:r>
              <a:rPr sz="1200" b="0">
                <a:solidFill>
                  <a:srgbClr val="21292E"/>
                </a:solidFill>
                <a:latin typeface="Calibri"/>
              </a:rPr>
              <a:t>；→ 3000ms：</a:t>
            </a:r>
            <a:r>
              <a:rPr sz="1300" b="1">
                <a:solidFill>
                  <a:srgbClr val="1B9E77"/>
                </a:solidFill>
                <a:latin typeface="Calibri"/>
              </a:rPr>
              <a:t>降低 77%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56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中断 ≈ node-timeout + 2~6s（选举+FAIL传播+客户端刷新）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推荐优化清单（按收益排序）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02920" cy="8412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8013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node-timeout 15000→5000ms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112264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7A85"/>
                </a:solidFill>
                <a:latin typeface="Calibri"/>
              </a:rPr>
              <a:t>中断 20.7→8.8s。代价：网络抖动更易误判，跨AZ需 RTT≪timeout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624328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624328"/>
            <a:ext cx="502920" cy="84124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24328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7340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客户端快失败 + 主动刷新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3044952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7A85"/>
                </a:solidFill>
                <a:latin typeface="Calibri"/>
              </a:rPr>
              <a:t>socketTimeout 调小(500~800ms)、命中异常立即刷新 slots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557016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557016"/>
            <a:ext cx="502920" cy="8412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557016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66674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保证多数主存活 + 低滞后副本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977640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7A85"/>
                </a:solidFill>
                <a:latin typeface="Calibri"/>
              </a:rPr>
              <a:t>FAIL 需多数主投票；滞后过大副本被禁止升主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489704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489704"/>
            <a:ext cx="502920" cy="84124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489704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45994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计划内切换用 CLUSTER FAILOVER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4910328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7A85"/>
                </a:solidFill>
                <a:latin typeface="Calibri"/>
              </a:rPr>
              <a:t>副本协商 + offset 对齐，亚秒级且不丢数据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5422392"/>
            <a:ext cx="5349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5422392"/>
            <a:ext cx="502920" cy="841248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422392"/>
            <a:ext cx="502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5532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292E"/>
                </a:solidFill>
                <a:latin typeface="Calibri"/>
              </a:rPr>
              <a:t>连接预热 + 连接池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5843016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7A85"/>
                </a:solidFill>
                <a:latin typeface="Calibri"/>
              </a:rPr>
              <a:t>避免转移后新建连接的额外 RTT 放大尾延迟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15000"/>
            <a:ext cx="5486400" cy="868680"/>
          </a:xfrm>
          <a:prstGeom prst="roundRect">
            <a:avLst/>
          </a:prstGeom>
          <a:solidFill>
            <a:srgbClr val="0E3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815584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7FD4F0"/>
                </a:solidFill>
                <a:latin typeface="Calibri"/>
              </a:rPr>
              <a:t>工程最优组合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E8F1F5"/>
                </a:solidFill>
                <a:latin typeface="Calibri"/>
              </a:rPr>
              <a:t>跨 AZ 容灾 + node-timeout=5000 + 客户端快失败重发现 + 幂等重试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